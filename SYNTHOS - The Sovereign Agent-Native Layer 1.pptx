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sv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sv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sv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sv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0"/>
                </a:srgbClr>
              </a:gs>
              <a:gs pos="18000">
                <a:srgbClr val="000000">
                  <a:alpha val="0"/>
                </a:srgbClr>
              </a:gs>
              <a:gs pos="82000">
                <a:srgbClr val="000000">
                  <a:alpha val="0"/>
                </a:srgbClr>
              </a:gs>
              <a:gs pos="100000">
                <a:srgbClr val="000000">
                  <a:alpha val="4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71390" y="1000125"/>
            <a:ext cx="5001220" cy="2857500"/>
          </a:xfrm>
          <a:prstGeom prst="rect">
            <a:avLst/>
          </a:prstGeom>
          <a:gradFill rotWithShape="1">
            <a:gsLst>
              <a:gs pos="0">
                <a:srgbClr val="00E676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04808" y="1648420"/>
            <a:ext cx="5134235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80"/>
              </a:lnSpc>
              <a:buNone/>
            </a:pPr>
            <a:r>
              <a:rPr lang="en-US" sz="6080" b="1" spc="1350" kern="0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SYNTHOS</a:t>
            </a:r>
            <a:endParaRPr lang="en-US" sz="6080" dirty="0"/>
          </a:p>
        </p:txBody>
      </p:sp>
      <p:sp>
        <p:nvSpPr>
          <p:cNvPr id="5" name="Text 3"/>
          <p:cNvSpPr/>
          <p:nvPr/>
        </p:nvSpPr>
        <p:spPr>
          <a:xfrm>
            <a:off x="3428851" y="2678311"/>
            <a:ext cx="2286000" cy="13841"/>
          </a:xfrm>
          <a:prstGeom prst="roundRect">
            <a:avLst>
              <a:gd name="adj" fmla="val 100932"/>
            </a:avLst>
          </a:prstGeom>
          <a:solidFill>
            <a:srgbClr val="00E676"/>
          </a:solidFill>
          <a:ln/>
          <a:effectLst>
            <a:outerShdw sx="100000" sy="100000" kx="0" ky="0" algn="bl" rotWithShape="0" blurRad="200660" dist="50800" dir="16200000">
              <a:srgbClr val="00e676">
                <a:alpha val="4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88760" y="2934593"/>
            <a:ext cx="396618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4"/>
              </a:lnSpc>
              <a:spcAft>
                <a:spcPts val="1010"/>
              </a:spcAft>
              <a:buNone/>
            </a:pPr>
            <a:r>
              <a:rPr lang="en-US" sz="1580" spc="170" kern="0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Sovereign Agent-Native Layer 1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2017306" y="3323481"/>
            <a:ext cx="51090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14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CIVILIZATION SUBSTRATE FOR THE TRILLION-AGENT ECONOMY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89362" y="4689574"/>
            <a:ext cx="216180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17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 COLLECTIVE  |  2026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0000" t="20000" r="20000" b="8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15000" t="80000" r="85000" b="2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3470" y="4657130"/>
            <a:ext cx="9525" cy="342900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5775" y="1290042"/>
            <a:ext cx="2677116" cy="792063"/>
          </a:xfrm>
          <a:prstGeom prst="roundRect">
            <a:avLst>
              <a:gd name="adj" fmla="val 7215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775" y="2215455"/>
            <a:ext cx="2677116" cy="792063"/>
          </a:xfrm>
          <a:prstGeom prst="roundRect">
            <a:avLst>
              <a:gd name="adj" fmla="val 7215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775" y="3140869"/>
            <a:ext cx="2677116" cy="792063"/>
          </a:xfrm>
          <a:prstGeom prst="roundRect">
            <a:avLst>
              <a:gd name="adj" fmla="val 7215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4290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3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57200" y="539055"/>
            <a:ext cx="8641080" cy="36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9"/>
              </a:lnSpc>
              <a:buNone/>
            </a:pPr>
            <a:r>
              <a:rPr lang="en-US" sz="259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$27 Billion Orphan</a:t>
            </a:r>
            <a:endParaRPr lang="en-US" sz="2590" dirty="0"/>
          </a:p>
        </p:txBody>
      </p:sp>
      <p:sp>
        <p:nvSpPr>
          <p:cNvPr id="10" name="Text 8"/>
          <p:cNvSpPr/>
          <p:nvPr/>
        </p:nvSpPr>
        <p:spPr>
          <a:xfrm>
            <a:off x="457200" y="1001167"/>
            <a:ext cx="457200" cy="21580"/>
          </a:xfrm>
          <a:prstGeom prst="roundRect">
            <a:avLst>
              <a:gd name="adj" fmla="val 64736"/>
            </a:avLst>
          </a:prstGeom>
          <a:solidFill>
            <a:srgbClr val="00E676"/>
          </a:solidFill>
          <a:ln/>
          <a:effectLst>
            <a:outerShdw sx="100000" sy="100000" kx="0" ky="0" algn="bl" rotWithShape="0" blurRad="86360" dist="50800" dir="16200000">
              <a:srgbClr val="00e676">
                <a:alpha val="3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280517"/>
            <a:ext cx="2715220" cy="811113"/>
          </a:xfrm>
          <a:prstGeom prst="roundRect">
            <a:avLst>
              <a:gd name="adj" fmla="val 7046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1280517"/>
            <a:ext cx="28575" cy="811113"/>
          </a:xfrm>
          <a:custGeom>
            <a:avLst/>
            <a:gdLst/>
            <a:ahLst/>
            <a:cxnLst/>
            <a:rect l="l" t="t" r="r" b="b"/>
            <a:pathLst>
              <a:path w="28575" h="811113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03457"/>
                </a:lnTo>
                <a:lnTo>
                  <a:pt x="25003" y="801215"/>
                </a:lnTo>
                <a:lnTo>
                  <a:pt x="21431" y="798576"/>
                </a:lnTo>
                <a:lnTo>
                  <a:pt x="17859" y="795465"/>
                </a:lnTo>
                <a:lnTo>
                  <a:pt x="14288" y="791764"/>
                </a:lnTo>
                <a:lnTo>
                  <a:pt x="10716" y="787280"/>
                </a:lnTo>
                <a:lnTo>
                  <a:pt x="7144" y="781631"/>
                </a:lnTo>
                <a:lnTo>
                  <a:pt x="3572" y="773851"/>
                </a:lnTo>
                <a:lnTo>
                  <a:pt x="0" y="753963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066" y="1447502"/>
            <a:ext cx="2467996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b="1" dirty="0">
                <a:solidFill>
                  <a:srgbClr val="00E676"/>
                </a:solidFill>
                <a:effectLst>
                  <a:glow rad="428625">
                    <a:srgbClr val="00E676">
                      <a:alpha val="6000"/>
                    </a:srgbClr>
                  </a:glow>
                </a:effectLst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$27B+</a:t>
            </a:r>
            <a:endParaRPr lang="en-US" sz="2030" dirty="0"/>
          </a:p>
        </p:txBody>
      </p:sp>
      <p:sp>
        <p:nvSpPr>
          <p:cNvPr id="14" name="Text 12"/>
          <p:cNvSpPr/>
          <p:nvPr/>
        </p:nvSpPr>
        <p:spPr>
          <a:xfrm>
            <a:off x="671066" y="1774180"/>
            <a:ext cx="25371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spc="8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MARKET CAP</a:t>
            </a:r>
            <a:endParaRPr lang="en-US" sz="79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9388" y="1536055"/>
            <a:ext cx="300038" cy="3000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2205930"/>
            <a:ext cx="2715220" cy="811113"/>
          </a:xfrm>
          <a:prstGeom prst="roundRect">
            <a:avLst>
              <a:gd name="adj" fmla="val 7046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200" y="2205930"/>
            <a:ext cx="28575" cy="811113"/>
          </a:xfrm>
          <a:custGeom>
            <a:avLst/>
            <a:gdLst/>
            <a:ahLst/>
            <a:cxnLst/>
            <a:rect l="l" t="t" r="r" b="b"/>
            <a:pathLst>
              <a:path w="28575" h="811113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03457"/>
                </a:lnTo>
                <a:lnTo>
                  <a:pt x="25003" y="801215"/>
                </a:lnTo>
                <a:lnTo>
                  <a:pt x="21431" y="798576"/>
                </a:lnTo>
                <a:lnTo>
                  <a:pt x="17859" y="795465"/>
                </a:lnTo>
                <a:lnTo>
                  <a:pt x="14288" y="791764"/>
                </a:lnTo>
                <a:lnTo>
                  <a:pt x="10716" y="787280"/>
                </a:lnTo>
                <a:lnTo>
                  <a:pt x="7144" y="781631"/>
                </a:lnTo>
                <a:lnTo>
                  <a:pt x="3572" y="773851"/>
                </a:lnTo>
                <a:lnTo>
                  <a:pt x="0" y="753963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1066" y="2372916"/>
            <a:ext cx="2467996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b="1" dirty="0">
                <a:solidFill>
                  <a:srgbClr val="00E676"/>
                </a:solidFill>
                <a:effectLst>
                  <a:glow rad="428625">
                    <a:srgbClr val="00E676">
                      <a:alpha val="6000"/>
                    </a:srgbClr>
                  </a:glow>
                </a:effectLst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500+</a:t>
            </a:r>
            <a:endParaRPr lang="en-US" sz="2030" dirty="0"/>
          </a:p>
        </p:txBody>
      </p:sp>
      <p:sp>
        <p:nvSpPr>
          <p:cNvPr id="19" name="Text 16"/>
          <p:cNvSpPr/>
          <p:nvPr/>
        </p:nvSpPr>
        <p:spPr>
          <a:xfrm>
            <a:off x="671066" y="2699593"/>
            <a:ext cx="25371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spc="8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</a:t>
            </a:r>
            <a:endParaRPr lang="en-US" sz="79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9388" y="2461468"/>
            <a:ext cx="300038" cy="3000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" y="3131344"/>
            <a:ext cx="2715220" cy="811113"/>
          </a:xfrm>
          <a:prstGeom prst="roundRect">
            <a:avLst>
              <a:gd name="adj" fmla="val 7046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57200" y="3131344"/>
            <a:ext cx="28575" cy="811113"/>
          </a:xfrm>
          <a:custGeom>
            <a:avLst/>
            <a:gdLst/>
            <a:ahLst/>
            <a:cxnLst/>
            <a:rect l="l" t="t" r="r" b="b"/>
            <a:pathLst>
              <a:path w="28575" h="811113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03457"/>
                </a:lnTo>
                <a:lnTo>
                  <a:pt x="25003" y="801215"/>
                </a:lnTo>
                <a:lnTo>
                  <a:pt x="21431" y="798576"/>
                </a:lnTo>
                <a:lnTo>
                  <a:pt x="17859" y="795465"/>
                </a:lnTo>
                <a:lnTo>
                  <a:pt x="14288" y="791764"/>
                </a:lnTo>
                <a:lnTo>
                  <a:pt x="10716" y="787280"/>
                </a:lnTo>
                <a:lnTo>
                  <a:pt x="7144" y="781631"/>
                </a:lnTo>
                <a:lnTo>
                  <a:pt x="3572" y="773851"/>
                </a:lnTo>
                <a:lnTo>
                  <a:pt x="0" y="753963"/>
                </a:lnTo>
                <a:close/>
              </a:path>
            </a:pathLst>
          </a:custGeom>
          <a:solidFill>
            <a:srgbClr val="FF5252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71066" y="3298329"/>
            <a:ext cx="2467996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b="1" dirty="0">
                <a:solidFill>
                  <a:srgbClr val="FF5252"/>
                </a:solidFill>
                <a:effectLst>
                  <a:glow rad="428625">
                    <a:srgbClr val="FF5252">
                      <a:alpha val="6000"/>
                    </a:srgbClr>
                  </a:glow>
                </a:effectLst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0</a:t>
            </a:r>
            <a:endParaRPr lang="en-US" sz="2030" dirty="0"/>
          </a:p>
        </p:txBody>
      </p:sp>
      <p:sp>
        <p:nvSpPr>
          <p:cNvPr id="24" name="Text 20"/>
          <p:cNvSpPr/>
          <p:nvPr/>
        </p:nvSpPr>
        <p:spPr>
          <a:xfrm>
            <a:off x="671066" y="3625007"/>
            <a:ext cx="25371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spc="8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AGENT L1S</a:t>
            </a:r>
            <a:endParaRPr lang="en-US" sz="79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alphaModFix amt="1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9388" y="3386882"/>
            <a:ext cx="300038" cy="3000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572470" y="1875979"/>
            <a:ext cx="5158323" cy="68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crypto sector has 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b="1" dirty="0">
                <a:solidFill>
                  <a:srgbClr val="00E67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hundreds of projects, billions in market cap, an entire economy forming in real time. Yet every single one runs as a 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b="1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infrastructure built for humans.</a:t>
            </a:r>
            <a:endParaRPr lang="en-US" sz="1010" dirty="0"/>
          </a:p>
        </p:txBody>
      </p:sp>
      <p:sp>
        <p:nvSpPr>
          <p:cNvPr id="27" name="Text 22"/>
          <p:cNvSpPr/>
          <p:nvPr/>
        </p:nvSpPr>
        <p:spPr>
          <a:xfrm>
            <a:off x="3572470" y="2673548"/>
            <a:ext cx="5158323" cy="68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today are bolted onto Ethereum, Solana, and other L1s designed around 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b="1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wallets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b="1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time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b="1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governance</a:t>
            </a:r>
            <a:pPr algn="l" indent="0" marL="0">
              <a:lnSpc>
                <a:spcPts val="1717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E8E8E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result: agents that cannot own time, cannot self-heal, cannot form sovereign economic relationships.</a:t>
            </a:r>
            <a:endParaRPr lang="en-US" sz="1010" dirty="0"/>
          </a:p>
        </p:txBody>
      </p:sp>
      <p:sp>
        <p:nvSpPr>
          <p:cNvPr id="28" name="Text 23"/>
          <p:cNvSpPr/>
          <p:nvPr/>
        </p:nvSpPr>
        <p:spPr>
          <a:xfrm>
            <a:off x="3572470" y="3528268"/>
            <a:ext cx="5057180" cy="697176"/>
          </a:xfrm>
          <a:prstGeom prst="roundRect">
            <a:avLst>
              <a:gd name="adj" fmla="val 8197"/>
            </a:avLst>
          </a:prstGeom>
          <a:solidFill>
            <a:srgbClr val="00E676">
              <a:alpha val="6000"/>
            </a:srgbClr>
          </a:solidFill>
          <a:ln w="9525">
            <a:solidFill>
              <a:srgbClr val="00E676">
                <a:alpha val="18000"/>
              </a:srgbClr>
            </a:solidFill>
          </a:ln>
        </p:spPr>
        <p:txBody>
          <a:bodyPr wrap="square" lIns="157480" tIns="128270" rIns="157480" bIns="128270" rtlCol="0" anchor="t"/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They are powerful — but </a:t>
            </a:r>
            <a:pPr algn="l" indent="0" marL="0">
              <a:buNone/>
            </a:pPr>
            <a:r>
              <a:rPr lang="en-US" sz="113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homeless</a:t>
            </a:r>
            <a:pPr algn="l" indent="0" marL="0">
              <a:buNone/>
            </a:pPr>
            <a:r>
              <a:rPr lang="en-US" sz="113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.</a:t>
            </a:r>
            <a:br/>
            <a:pPr algn="l" indent="0" marL="0">
              <a:buNone/>
            </a:pPr>
            <a:r>
              <a:rPr lang="en-US" sz="113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A $27 billion economy with </a:t>
            </a:r>
            <a:pPr algn="l" indent="0" marL="0">
              <a:buNone/>
            </a:pPr>
            <a:r>
              <a:rPr lang="en-US" sz="113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no ground to stand on</a:t>
            </a:r>
            <a:pPr algn="l" indent="0" marL="0">
              <a:buNone/>
            </a:pPr>
            <a:r>
              <a:rPr lang="en-US" sz="113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.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5750"/>
            <a:ext cx="342900" cy="21580"/>
          </a:xfrm>
          <a:prstGeom prst="roundRect">
            <a:avLst>
              <a:gd name="adj" fmla="val 64736"/>
            </a:avLst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93650"/>
            <a:ext cx="880567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spcAft>
                <a:spcPts val="230"/>
              </a:spcAft>
              <a:buNone/>
            </a:pPr>
            <a:r>
              <a:rPr lang="en-US" sz="203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Why Not Just Use Ethereum?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457200" y="809476"/>
            <a:ext cx="905256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ground beneath us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457200" y="857250"/>
            <a:ext cx="1911980" cy="360611"/>
          </a:xfrm>
          <a:prstGeom prst="rect">
            <a:avLst/>
          </a:prstGeom>
          <a:noFill/>
          <a:ln/>
        </p:spPr>
        <p:txBody>
          <a:bodyPr wrap="none" lIns="114300" tIns="100330" rIns="114300" bIns="100330" rtlCol="0" anchor="t"/>
          <a:lstStyle/>
          <a:p>
            <a:pPr algn="l" indent="0" marL="0">
              <a:buNone/>
            </a:pPr>
            <a:r>
              <a:rPr lang="en-US" sz="790" b="1" spc="80" kern="0" dirty="0">
                <a:solidFill>
                  <a:srgbClr val="7A8A7A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FEATURE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457200" y="1208336"/>
            <a:ext cx="1874490" cy="9525"/>
          </a:xfrm>
          <a:prstGeom prst="rect">
            <a:avLst/>
          </a:prstGeom>
          <a:solidFill>
            <a:srgbClr val="222222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31690" y="857250"/>
            <a:ext cx="2077295" cy="360611"/>
          </a:xfrm>
          <a:prstGeom prst="rect">
            <a:avLst/>
          </a:prstGeom>
          <a:noFill/>
          <a:ln/>
        </p:spPr>
        <p:txBody>
          <a:bodyPr wrap="none" lIns="114300" tIns="100330" rIns="114300" bIns="100330" rtlCol="0" anchor="t"/>
          <a:lstStyle/>
          <a:p>
            <a:pPr algn="l" indent="0" marL="0">
              <a:buNone/>
            </a:pPr>
            <a:r>
              <a:rPr lang="en-US" sz="790" b="1" spc="80" kern="0" dirty="0">
                <a:solidFill>
                  <a:srgbClr val="6B7280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ETHEREUM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2331690" y="1208336"/>
            <a:ext cx="2036564" cy="9525"/>
          </a:xfrm>
          <a:prstGeom prst="rect">
            <a:avLst/>
          </a:prstGeom>
          <a:solidFill>
            <a:srgbClr val="222222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68254" y="857250"/>
            <a:ext cx="2077295" cy="360611"/>
          </a:xfrm>
          <a:prstGeom prst="rect">
            <a:avLst/>
          </a:prstGeom>
          <a:noFill/>
          <a:ln/>
        </p:spPr>
        <p:txBody>
          <a:bodyPr wrap="none" lIns="114300" tIns="100330" rIns="114300" bIns="100330" rtlCol="0" anchor="t"/>
          <a:lstStyle/>
          <a:p>
            <a:pPr algn="l" indent="0" marL="0">
              <a:buNone/>
            </a:pPr>
            <a:r>
              <a:rPr lang="en-US" sz="790" b="1" spc="80" kern="0" dirty="0">
                <a:solidFill>
                  <a:srgbClr val="6B7280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SOLANA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4368254" y="1208336"/>
            <a:ext cx="2036564" cy="9525"/>
          </a:xfrm>
          <a:prstGeom prst="rect">
            <a:avLst/>
          </a:prstGeom>
          <a:solidFill>
            <a:srgbClr val="222222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4818" y="857250"/>
            <a:ext cx="2327621" cy="360611"/>
          </a:xfrm>
          <a:prstGeom prst="rect">
            <a:avLst/>
          </a:prstGeom>
          <a:solidFill>
            <a:srgbClr val="00E676">
              <a:alpha val="4000"/>
            </a:srgbClr>
          </a:solidFill>
          <a:ln/>
        </p:spPr>
        <p:txBody>
          <a:bodyPr wrap="none" lIns="114300" tIns="100330" rIns="114300" bIns="100330" rtlCol="0" anchor="t"/>
          <a:lstStyle/>
          <a:p>
            <a:pPr algn="l" indent="0" marL="0">
              <a:buNone/>
            </a:pPr>
            <a:r>
              <a:rPr lang="en-US" sz="790" b="1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SYNTHOS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6404818" y="1208336"/>
            <a:ext cx="2281982" cy="9525"/>
          </a:xfrm>
          <a:prstGeom prst="rect">
            <a:avLst/>
          </a:prstGeom>
          <a:solidFill>
            <a:srgbClr val="00E676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1217861"/>
            <a:ext cx="1911980" cy="343049"/>
          </a:xfrm>
          <a:prstGeom prst="rect">
            <a:avLst/>
          </a:prstGeom>
          <a:noFill/>
          <a:ln/>
        </p:spPr>
        <p:txBody>
          <a:bodyPr wrap="none" lIns="0" tIns="92710" rIns="114300" bIns="9271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Agent-Native Design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457200" y="1551384"/>
            <a:ext cx="1874490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31690" y="1217861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Human-first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2331690" y="1551384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68254" y="1217861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Speed-first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4368254" y="1551384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4818" y="1217861"/>
            <a:ext cx="2327621" cy="343049"/>
          </a:xfrm>
          <a:prstGeom prst="rect">
            <a:avLst/>
          </a:prstGeom>
          <a:solidFill>
            <a:srgbClr val="00E676">
              <a:alpha val="4000"/>
            </a:srgbClr>
          </a:solidFill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from genesis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6404818" y="1551384"/>
            <a:ext cx="2281982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1560909"/>
            <a:ext cx="1911980" cy="343049"/>
          </a:xfrm>
          <a:prstGeom prst="rect">
            <a:avLst/>
          </a:prstGeom>
          <a:noFill/>
          <a:ln/>
        </p:spPr>
        <p:txBody>
          <a:bodyPr wrap="none" lIns="0" tIns="92710" rIns="114300" bIns="9271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Sovereign Time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457200" y="1894433"/>
            <a:ext cx="1874490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31690" y="1560909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timestamps</a:t>
            </a:r>
            <a:endParaRPr lang="en-US" sz="790" dirty="0"/>
          </a:p>
        </p:txBody>
      </p:sp>
      <p:sp>
        <p:nvSpPr>
          <p:cNvPr id="24" name="Text 22"/>
          <p:cNvSpPr/>
          <p:nvPr/>
        </p:nvSpPr>
        <p:spPr>
          <a:xfrm>
            <a:off x="2331690" y="1894433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68254" y="1560909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PoH, validator-controlled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4368254" y="1894433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04818" y="1560909"/>
            <a:ext cx="2327621" cy="343049"/>
          </a:xfrm>
          <a:prstGeom prst="rect">
            <a:avLst/>
          </a:prstGeom>
          <a:solidFill>
            <a:srgbClr val="00E676">
              <a:alpha val="4000"/>
            </a:srgbClr>
          </a:solidFill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Agent-owned temporal proofs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6404818" y="1894433"/>
            <a:ext cx="2281982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7200" y="1903958"/>
            <a:ext cx="1911980" cy="343049"/>
          </a:xfrm>
          <a:prstGeom prst="rect">
            <a:avLst/>
          </a:prstGeom>
          <a:noFill/>
          <a:ln/>
        </p:spPr>
        <p:txBody>
          <a:bodyPr wrap="none" lIns="0" tIns="92710" rIns="114300" bIns="9271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Self-Healing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457200" y="2237482"/>
            <a:ext cx="1874490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31690" y="1903958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2331690" y="2237482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68254" y="1903958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require restarts</a:t>
            </a:r>
            <a:endParaRPr lang="en-US" sz="790" dirty="0"/>
          </a:p>
        </p:txBody>
      </p:sp>
      <p:sp>
        <p:nvSpPr>
          <p:cNvPr id="34" name="Text 32"/>
          <p:cNvSpPr/>
          <p:nvPr/>
        </p:nvSpPr>
        <p:spPr>
          <a:xfrm>
            <a:off x="4368254" y="2237482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04818" y="1903958"/>
            <a:ext cx="2327621" cy="343049"/>
          </a:xfrm>
          <a:prstGeom prst="rect">
            <a:avLst/>
          </a:prstGeom>
          <a:solidFill>
            <a:srgbClr val="00E676">
              <a:alpha val="4000"/>
            </a:srgbClr>
          </a:solidFill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Protocol-native recovery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6404818" y="2237482"/>
            <a:ext cx="2281982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7200" y="2247007"/>
            <a:ext cx="1911980" cy="343049"/>
          </a:xfrm>
          <a:prstGeom prst="rect">
            <a:avLst/>
          </a:prstGeom>
          <a:noFill/>
          <a:ln/>
        </p:spPr>
        <p:txBody>
          <a:bodyPr wrap="none" lIns="0" tIns="92710" rIns="114300" bIns="9271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Obligation Primitives</a:t>
            </a:r>
            <a:endParaRPr lang="en-US" sz="790" dirty="0"/>
          </a:p>
        </p:txBody>
      </p:sp>
      <p:sp>
        <p:nvSpPr>
          <p:cNvPr id="38" name="Text 36"/>
          <p:cNvSpPr/>
          <p:nvPr/>
        </p:nvSpPr>
        <p:spPr>
          <a:xfrm>
            <a:off x="457200" y="2580531"/>
            <a:ext cx="1874490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331690" y="2247007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only</a:t>
            </a:r>
            <a:endParaRPr lang="en-US" sz="790" dirty="0"/>
          </a:p>
        </p:txBody>
      </p:sp>
      <p:sp>
        <p:nvSpPr>
          <p:cNvPr id="40" name="Text 38"/>
          <p:cNvSpPr/>
          <p:nvPr/>
        </p:nvSpPr>
        <p:spPr>
          <a:xfrm>
            <a:off x="2331690" y="2580531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68254" y="2247007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only</a:t>
            </a:r>
            <a:endParaRPr lang="en-US" sz="790" dirty="0"/>
          </a:p>
        </p:txBody>
      </p:sp>
      <p:sp>
        <p:nvSpPr>
          <p:cNvPr id="42" name="Text 40"/>
          <p:cNvSpPr/>
          <p:nvPr/>
        </p:nvSpPr>
        <p:spPr>
          <a:xfrm>
            <a:off x="4368254" y="2580531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404818" y="2247007"/>
            <a:ext cx="2327621" cy="343049"/>
          </a:xfrm>
          <a:prstGeom prst="rect">
            <a:avLst/>
          </a:prstGeom>
          <a:solidFill>
            <a:srgbClr val="00E676">
              <a:alpha val="4000"/>
            </a:srgbClr>
          </a:solidFill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obligations + lineage</a:t>
            </a:r>
            <a:endParaRPr lang="en-US" sz="790" dirty="0"/>
          </a:p>
        </p:txBody>
      </p:sp>
      <p:sp>
        <p:nvSpPr>
          <p:cNvPr id="44" name="Text 42"/>
          <p:cNvSpPr/>
          <p:nvPr/>
        </p:nvSpPr>
        <p:spPr>
          <a:xfrm>
            <a:off x="6404818" y="2580531"/>
            <a:ext cx="2281982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7200" y="2590056"/>
            <a:ext cx="1911980" cy="343049"/>
          </a:xfrm>
          <a:prstGeom prst="rect">
            <a:avLst/>
          </a:prstGeom>
          <a:noFill/>
          <a:ln/>
        </p:spPr>
        <p:txBody>
          <a:bodyPr wrap="none" lIns="0" tIns="92710" rIns="114300" bIns="9271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Serverless Validation</a:t>
            </a:r>
            <a:endParaRPr lang="en-US" sz="790" dirty="0"/>
          </a:p>
        </p:txBody>
      </p:sp>
      <p:sp>
        <p:nvSpPr>
          <p:cNvPr id="46" name="Text 44"/>
          <p:cNvSpPr/>
          <p:nvPr/>
        </p:nvSpPr>
        <p:spPr>
          <a:xfrm>
            <a:off x="457200" y="2923580"/>
            <a:ext cx="1874490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331690" y="2590056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</a:t>
            </a:r>
            <a:endParaRPr lang="en-US" sz="790" dirty="0"/>
          </a:p>
        </p:txBody>
      </p:sp>
      <p:sp>
        <p:nvSpPr>
          <p:cNvPr id="48" name="Text 46"/>
          <p:cNvSpPr/>
          <p:nvPr/>
        </p:nvSpPr>
        <p:spPr>
          <a:xfrm>
            <a:off x="2331690" y="2923580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368254" y="2590056"/>
            <a:ext cx="2077295" cy="343049"/>
          </a:xfrm>
          <a:prstGeom prst="rect">
            <a:avLst/>
          </a:prstGeom>
          <a:noFill/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High-spec hardware</a:t>
            </a:r>
            <a:endParaRPr lang="en-US" sz="790" dirty="0"/>
          </a:p>
        </p:txBody>
      </p:sp>
      <p:sp>
        <p:nvSpPr>
          <p:cNvPr id="50" name="Text 48"/>
          <p:cNvSpPr/>
          <p:nvPr/>
        </p:nvSpPr>
        <p:spPr>
          <a:xfrm>
            <a:off x="4368254" y="2923580"/>
            <a:ext cx="2036564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04818" y="2590056"/>
            <a:ext cx="2327621" cy="343049"/>
          </a:xfrm>
          <a:prstGeom prst="rect">
            <a:avLst/>
          </a:prstGeom>
          <a:solidFill>
            <a:srgbClr val="00E676">
              <a:alpha val="4000"/>
            </a:srgbClr>
          </a:solidFill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Ephemeral, zero infrastructure</a:t>
            </a:r>
            <a:endParaRPr lang="en-US" sz="790" dirty="0"/>
          </a:p>
        </p:txBody>
      </p:sp>
      <p:sp>
        <p:nvSpPr>
          <p:cNvPr id="52" name="Text 50"/>
          <p:cNvSpPr/>
          <p:nvPr/>
        </p:nvSpPr>
        <p:spPr>
          <a:xfrm>
            <a:off x="6404818" y="2923580"/>
            <a:ext cx="2281982" cy="952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57200" y="2933105"/>
            <a:ext cx="1911980" cy="350200"/>
          </a:xfrm>
          <a:prstGeom prst="rect">
            <a:avLst/>
          </a:prstGeom>
          <a:noFill/>
          <a:ln/>
        </p:spPr>
        <p:txBody>
          <a:bodyPr wrap="square" lIns="0" tIns="92710" rIns="114300" bIns="9271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External Dependencies</a:t>
            </a:r>
            <a:endParaRPr lang="en-US" sz="790" dirty="0"/>
          </a:p>
        </p:txBody>
      </p:sp>
      <p:sp>
        <p:nvSpPr>
          <p:cNvPr id="54" name="Text 52"/>
          <p:cNvSpPr/>
          <p:nvPr/>
        </p:nvSpPr>
        <p:spPr>
          <a:xfrm>
            <a:off x="2331690" y="2933105"/>
            <a:ext cx="2077295" cy="350200"/>
          </a:xfrm>
          <a:prstGeom prst="rect">
            <a:avLst/>
          </a:prstGeom>
          <a:noFill/>
          <a:ln/>
        </p:spPr>
        <p:txBody>
          <a:bodyPr wrap="square" lIns="114300" tIns="92710" rIns="114300" bIns="9271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dependency</a:t>
            </a:r>
            <a:endParaRPr lang="en-US" sz="790" dirty="0"/>
          </a:p>
        </p:txBody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3692" y="3037517"/>
            <a:ext cx="132588" cy="132588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4368254" y="2933105"/>
            <a:ext cx="2077295" cy="350200"/>
          </a:xfrm>
          <a:prstGeom prst="rect">
            <a:avLst/>
          </a:prstGeom>
          <a:noFill/>
          <a:ln/>
        </p:spPr>
        <p:txBody>
          <a:bodyPr wrap="square" lIns="114300" tIns="92710" rIns="114300" bIns="9271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Minimal</a:t>
            </a:r>
            <a:endParaRPr lang="en-US" sz="790" dirty="0"/>
          </a:p>
        </p:txBody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0256" y="3037517"/>
            <a:ext cx="132588" cy="132588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6404818" y="2933105"/>
            <a:ext cx="2327621" cy="333524"/>
          </a:xfrm>
          <a:prstGeom prst="rect">
            <a:avLst/>
          </a:prstGeom>
          <a:solidFill>
            <a:srgbClr val="00E676">
              <a:alpha val="4000"/>
            </a:srgbClr>
          </a:solidFill>
          <a:ln/>
        </p:spPr>
        <p:txBody>
          <a:bodyPr wrap="none" lIns="114300" tIns="92710" rIns="114300" bIns="92710" rtlCol="0" anchor="t"/>
          <a:lstStyle/>
          <a:p>
            <a:pPr algn="l" indent="0" marL="0">
              <a:buNone/>
            </a:pPr>
            <a:r>
              <a:rPr lang="en-US" sz="79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fully sovereign</a:t>
            </a:r>
            <a:endParaRPr lang="en-US" sz="790" dirty="0"/>
          </a:p>
        </p:txBody>
      </p:sp>
      <p:sp>
        <p:nvSpPr>
          <p:cNvPr id="59" name="Text 55"/>
          <p:cNvSpPr/>
          <p:nvPr/>
        </p:nvSpPr>
        <p:spPr>
          <a:xfrm>
            <a:off x="0" y="4527054"/>
            <a:ext cx="9144000" cy="634939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lIns="457200" tIns="143510" rIns="457200" bIns="14351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SYNTHOS</a:t>
            </a:r>
            <a:pPr algn="l" indent="0" marL="0">
              <a:buNone/>
            </a:pPr>
            <a:r>
              <a:rPr lang="en-US" sz="84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buNone/>
            </a:pPr>
            <a:r>
              <a:rPr lang="en-US" sz="84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compete with Ethereum. It builds the ground that Ethereum never could — because Ethereum was designed for a world of human users, not a civilization of agents.</a:t>
            </a:r>
            <a:endParaRPr lang="en-US" sz="840" dirty="0"/>
          </a:p>
        </p:txBody>
      </p:sp>
      <p:sp>
        <p:nvSpPr>
          <p:cNvPr id="60" name="Text 56"/>
          <p:cNvSpPr/>
          <p:nvPr/>
        </p:nvSpPr>
        <p:spPr>
          <a:xfrm>
            <a:off x="0" y="4527054"/>
            <a:ext cx="9144000" cy="9525"/>
          </a:xfrm>
          <a:prstGeom prst="rect">
            <a:avLst/>
          </a:pr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6404818" y="1217861"/>
            <a:ext cx="7590" cy="333524"/>
          </a:xfrm>
          <a:prstGeom prst="rect">
            <a:avLst/>
          </a:prstGeom>
          <a:solidFill>
            <a:srgbClr val="00E67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6404818" y="1560909"/>
            <a:ext cx="7590" cy="333524"/>
          </a:xfrm>
          <a:prstGeom prst="rect">
            <a:avLst/>
          </a:prstGeom>
          <a:solidFill>
            <a:srgbClr val="00E67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6404818" y="1903958"/>
            <a:ext cx="7590" cy="333524"/>
          </a:xfrm>
          <a:prstGeom prst="rect">
            <a:avLst/>
          </a:prstGeom>
          <a:solidFill>
            <a:srgbClr val="00E67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6404818" y="2247007"/>
            <a:ext cx="7590" cy="333524"/>
          </a:xfrm>
          <a:prstGeom prst="rect">
            <a:avLst/>
          </a:prstGeom>
          <a:solidFill>
            <a:srgbClr val="00E67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6404818" y="2590056"/>
            <a:ext cx="7590" cy="333524"/>
          </a:xfrm>
          <a:prstGeom prst="rect">
            <a:avLst/>
          </a:prstGeom>
          <a:solidFill>
            <a:srgbClr val="00E67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6404818" y="2933105"/>
            <a:ext cx="7590" cy="333524"/>
          </a:xfrm>
          <a:prstGeom prst="rect">
            <a:avLst/>
          </a:prstGeom>
          <a:solidFill>
            <a:srgbClr val="00E67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0540" y="1499890"/>
            <a:ext cx="2143720" cy="2143720"/>
          </a:xfrm>
          <a:prstGeom prst="rect">
            <a:avLst/>
          </a:prstGeom>
          <a:gradFill rotWithShape="1">
            <a:gsLst>
              <a:gs pos="0">
                <a:srgbClr val="00E676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53467"/>
            <a:ext cx="29170" cy="257770"/>
          </a:xfrm>
          <a:prstGeom prst="roundRect">
            <a:avLst>
              <a:gd name="adj" fmla="val 47892"/>
            </a:avLst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9530" y="342900"/>
            <a:ext cx="602698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97"/>
              </a:lnSpc>
              <a:buNone/>
            </a:pPr>
            <a:r>
              <a:rPr lang="en-US" sz="1910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Serverless Validators: </a:t>
            </a:r>
            <a:pPr algn="l" indent="0" marL="0">
              <a:lnSpc>
                <a:spcPts val="2197"/>
              </a:lnSpc>
              <a:buNone/>
            </a:pPr>
            <a:r>
              <a:rPr lang="en-US" sz="1910" b="1" spc="-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Validation Without Infrastructure</a:t>
            </a:r>
            <a:endParaRPr lang="en-US" sz="1910" dirty="0"/>
          </a:p>
        </p:txBody>
      </p:sp>
      <p:sp>
        <p:nvSpPr>
          <p:cNvPr id="5" name="Text 3"/>
          <p:cNvSpPr/>
          <p:nvPr/>
        </p:nvSpPr>
        <p:spPr>
          <a:xfrm>
            <a:off x="400050" y="850404"/>
            <a:ext cx="4057650" cy="3675906"/>
          </a:xfrm>
          <a:prstGeom prst="roundRect">
            <a:avLst>
              <a:gd name="adj" fmla="val 2349"/>
            </a:avLst>
          </a:prstGeom>
          <a:solidFill>
            <a:srgbClr val="111111"/>
          </a:solidFill>
          <a:ln w="9525">
            <a:solidFill>
              <a:srgbClr val="B43C3C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866" y="1060549"/>
            <a:ext cx="40348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40" kern="0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594866" y="1235720"/>
            <a:ext cx="4034820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2"/>
              </a:lnSpc>
              <a:spcAft>
                <a:spcPts val="1010"/>
              </a:spcAft>
              <a:buNone/>
            </a:pPr>
            <a:r>
              <a:rPr lang="en-US" sz="1130" b="1" dirty="0">
                <a:solidFill>
                  <a:srgbClr val="9A8A8A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Traditional Validators</a:t>
            </a:r>
            <a:endParaRPr lang="en-US" sz="113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644" y="1538817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329" y="1543199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high-spec servers running 24/7 in data centers with significant capital lockup.</a:t>
            </a:r>
            <a:endParaRPr lang="en-US" sz="82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644" y="1962085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329" y="1966466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uptime required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missing blocks means slashing penalties and lost rewards.</a:t>
            </a:r>
            <a:endParaRPr lang="en-US" sz="82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644" y="2385352"/>
            <a:ext cx="132588" cy="132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329" y="2389733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expertise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DevOps knowledge, security hardening, and constant monitoring.</a:t>
            </a:r>
            <a:endParaRPr lang="en-US" sz="82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644" y="2808619"/>
            <a:ext cx="132588" cy="132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329" y="2813000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9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 pressure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economics favor cloud providers. A few thousand validators control most chains.</a:t>
            </a:r>
            <a:endParaRPr lang="en-US" sz="820" dirty="0"/>
          </a:p>
        </p:txBody>
      </p:sp>
      <p:sp>
        <p:nvSpPr>
          <p:cNvPr id="16" name="Text 10"/>
          <p:cNvSpPr/>
          <p:nvPr/>
        </p:nvSpPr>
        <p:spPr>
          <a:xfrm>
            <a:off x="558186" y="4014639"/>
            <a:ext cx="3741378" cy="330696"/>
          </a:xfrm>
          <a:prstGeom prst="roundRect">
            <a:avLst>
              <a:gd name="adj" fmla="val 17282"/>
            </a:avLst>
          </a:prstGeom>
          <a:solidFill>
            <a:srgbClr val="B43C3C">
              <a:alpha val="6000"/>
            </a:srgbClr>
          </a:solidFill>
          <a:ln w="9525">
            <a:solidFill>
              <a:srgbClr val="B43C3C">
                <a:alpha val="15000"/>
              </a:srgbClr>
            </a:solidFill>
          </a:ln>
        </p:spPr>
        <p:txBody>
          <a:bodyPr wrap="none" lIns="114300" tIns="86360" rIns="114300" bIns="86360" rtlCol="0" anchor="t"/>
          <a:lstStyle/>
          <a:p>
            <a:pPr algn="ctr" indent="0" marL="0">
              <a:buNone/>
            </a:pPr>
            <a:r>
              <a:rPr lang="en-US" sz="730" spc="20" kern="0" dirty="0">
                <a:solidFill>
                  <a:srgbClr val="7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thousand validators control most major networks</a:t>
            </a:r>
            <a:endParaRPr lang="en-US" sz="730" dirty="0"/>
          </a:p>
        </p:txBody>
      </p:sp>
      <p:sp>
        <p:nvSpPr>
          <p:cNvPr id="17" name="Text 11"/>
          <p:cNvSpPr/>
          <p:nvPr/>
        </p:nvSpPr>
        <p:spPr>
          <a:xfrm>
            <a:off x="4686300" y="850404"/>
            <a:ext cx="4057650" cy="3675906"/>
          </a:xfrm>
          <a:prstGeom prst="roundRect">
            <a:avLst>
              <a:gd name="adj" fmla="val 2349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40000">
                <a:srgbClr val="141414"/>
              </a:gs>
            </a:gsLst>
            <a:lin ang="4500000" scaled="1"/>
          </a:gradFill>
          <a:ln w="9525">
            <a:solidFill>
              <a:srgbClr val="00E67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881116" y="1060549"/>
            <a:ext cx="40348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4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620" dirty="0"/>
          </a:p>
        </p:txBody>
      </p:sp>
      <p:sp>
        <p:nvSpPr>
          <p:cNvPr id="19" name="Text 13"/>
          <p:cNvSpPr/>
          <p:nvPr/>
        </p:nvSpPr>
        <p:spPr>
          <a:xfrm>
            <a:off x="4881116" y="1235720"/>
            <a:ext cx="4034820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2"/>
              </a:lnSpc>
              <a:spcAft>
                <a:spcPts val="1010"/>
              </a:spcAft>
              <a:buNone/>
            </a:pPr>
            <a:r>
              <a:rPr lang="en-US" sz="113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SYNTHOS Serverless Validators</a:t>
            </a:r>
            <a:endParaRPr lang="en-US" sz="113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2894" y="1538817"/>
            <a:ext cx="132588" cy="132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63579" y="1543199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hardware.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Validators are ephemeral — activate when needed, validate, earn, and release.</a:t>
            </a:r>
            <a:endParaRPr lang="en-US" sz="82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2894" y="1954345"/>
            <a:ext cx="132588" cy="132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63579" y="1958727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a function, not a server.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Verify temporal proofs and obligations in lightweight bursts.</a:t>
            </a:r>
            <a:endParaRPr lang="en-US" sz="82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2894" y="2369874"/>
            <a:ext cx="132588" cy="1325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63579" y="2374255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can validate.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device can participate. Security scales with population, not hardware budgets.</a:t>
            </a:r>
            <a:endParaRPr lang="en-US" sz="82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62894" y="2785402"/>
            <a:ext cx="132588" cy="132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63579" y="2789783"/>
            <a:ext cx="3555266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Anti-centralization by design.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cloud provider advantage. The network belongs to its participants.</a:t>
            </a:r>
            <a:endParaRPr lang="en-US" sz="820" dirty="0"/>
          </a:p>
        </p:txBody>
      </p:sp>
      <p:sp>
        <p:nvSpPr>
          <p:cNvPr id="28" name="Text 18"/>
          <p:cNvSpPr/>
          <p:nvPr/>
        </p:nvSpPr>
        <p:spPr>
          <a:xfrm>
            <a:off x="4863062" y="3743176"/>
            <a:ext cx="1841543" cy="272504"/>
          </a:xfrm>
          <a:prstGeom prst="roundRect">
            <a:avLst>
              <a:gd name="adj" fmla="val 20972"/>
            </a:avLst>
          </a:prstGeom>
          <a:solidFill>
            <a:srgbClr val="00E676">
              <a:alpha val="6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COST</a:t>
            </a:r>
            <a:endParaRPr lang="en-US" sz="650" dirty="0"/>
          </a:p>
        </p:txBody>
      </p:sp>
      <p:sp>
        <p:nvSpPr>
          <p:cNvPr id="29" name="Text 19"/>
          <p:cNvSpPr/>
          <p:nvPr/>
        </p:nvSpPr>
        <p:spPr>
          <a:xfrm>
            <a:off x="6725646" y="3743176"/>
            <a:ext cx="1841543" cy="272504"/>
          </a:xfrm>
          <a:prstGeom prst="roundRect">
            <a:avLst>
              <a:gd name="adj" fmla="val 20972"/>
            </a:avLst>
          </a:prstGeom>
          <a:solidFill>
            <a:srgbClr val="00E676">
              <a:alpha val="6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ACTIVATION</a:t>
            </a:r>
            <a:endParaRPr lang="en-US" sz="650" dirty="0"/>
          </a:p>
        </p:txBody>
      </p:sp>
      <p:sp>
        <p:nvSpPr>
          <p:cNvPr id="30" name="Text 20"/>
          <p:cNvSpPr/>
          <p:nvPr/>
        </p:nvSpPr>
        <p:spPr>
          <a:xfrm>
            <a:off x="4863062" y="4072830"/>
            <a:ext cx="1841543" cy="272504"/>
          </a:xfrm>
          <a:prstGeom prst="roundRect">
            <a:avLst>
              <a:gd name="adj" fmla="val 20972"/>
            </a:avLst>
          </a:prstGeom>
          <a:solidFill>
            <a:srgbClr val="00E676">
              <a:alpha val="6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ACCESS</a:t>
            </a:r>
            <a:endParaRPr lang="en-US" sz="650" dirty="0"/>
          </a:p>
        </p:txBody>
      </p:sp>
      <p:sp>
        <p:nvSpPr>
          <p:cNvPr id="31" name="Text 21"/>
          <p:cNvSpPr/>
          <p:nvPr/>
        </p:nvSpPr>
        <p:spPr>
          <a:xfrm>
            <a:off x="6725646" y="4072830"/>
            <a:ext cx="1841543" cy="272504"/>
          </a:xfrm>
          <a:prstGeom prst="roundRect">
            <a:avLst>
              <a:gd name="adj" fmla="val 20972"/>
            </a:avLst>
          </a:prstGeom>
          <a:solidFill>
            <a:srgbClr val="00E676">
              <a:alpha val="6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ANTI-CENTRALIZATION</a:t>
            </a:r>
            <a:endParaRPr lang="en-US" sz="650" dirty="0"/>
          </a:p>
        </p:txBody>
      </p:sp>
      <p:sp>
        <p:nvSpPr>
          <p:cNvPr id="32" name="Text 22"/>
          <p:cNvSpPr/>
          <p:nvPr/>
        </p:nvSpPr>
        <p:spPr>
          <a:xfrm>
            <a:off x="-17145" y="4697760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i="1" spc="10" kern="0" dirty="0">
                <a:solidFill>
                  <a:srgbClr val="A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network's security scales with its population, not its hardware budget.</a:t>
            </a:r>
            <a:endParaRPr lang="en-US" sz="840" dirty="0"/>
          </a:p>
        </p:txBody>
      </p:sp>
      <p:sp>
        <p:nvSpPr>
          <p:cNvPr id="33" name="Text 23"/>
          <p:cNvSpPr/>
          <p:nvPr/>
        </p:nvSpPr>
        <p:spPr>
          <a:xfrm>
            <a:off x="409575" y="859929"/>
            <a:ext cx="4038600" cy="21580"/>
          </a:xfrm>
          <a:custGeom>
            <a:avLst/>
            <a:gdLst/>
            <a:ahLst/>
            <a:cxnLst/>
            <a:rect l="l" t="t" r="r" b="b"/>
            <a:pathLst>
              <a:path w="4038600" h="21580">
                <a:moveTo>
                  <a:pt x="86360" y="0"/>
                </a:moveTo>
                <a:lnTo>
                  <a:pt x="3952240" y="0"/>
                </a:lnTo>
                <a:lnTo>
                  <a:pt x="3973656" y="2698"/>
                </a:lnTo>
                <a:lnTo>
                  <a:pt x="3982285" y="5395"/>
                </a:lnTo>
                <a:lnTo>
                  <a:pt x="3988740" y="8093"/>
                </a:lnTo>
                <a:lnTo>
                  <a:pt x="3994040" y="10790"/>
                </a:lnTo>
                <a:lnTo>
                  <a:pt x="3998583" y="13488"/>
                </a:lnTo>
                <a:lnTo>
                  <a:pt x="4002574" y="16185"/>
                </a:lnTo>
                <a:lnTo>
                  <a:pt x="4006137" y="18883"/>
                </a:lnTo>
                <a:lnTo>
                  <a:pt x="40093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B43C3C">
                  <a:alpha val="50000"/>
                </a:srgbClr>
              </a:gs>
              <a:gs pos="100000">
                <a:srgbClr val="B43C3C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4"/>
          <p:cNvSpPr/>
          <p:nvPr/>
        </p:nvSpPr>
        <p:spPr>
          <a:xfrm>
            <a:off x="4695825" y="859929"/>
            <a:ext cx="4038600" cy="21580"/>
          </a:xfrm>
          <a:custGeom>
            <a:avLst/>
            <a:gdLst/>
            <a:ahLst/>
            <a:cxnLst/>
            <a:rect l="l" t="t" r="r" b="b"/>
            <a:pathLst>
              <a:path w="4038600" h="21580">
                <a:moveTo>
                  <a:pt x="86360" y="0"/>
                </a:moveTo>
                <a:lnTo>
                  <a:pt x="3952240" y="0"/>
                </a:lnTo>
                <a:lnTo>
                  <a:pt x="3973656" y="2698"/>
                </a:lnTo>
                <a:lnTo>
                  <a:pt x="3982285" y="5395"/>
                </a:lnTo>
                <a:lnTo>
                  <a:pt x="3988740" y="8093"/>
                </a:lnTo>
                <a:lnTo>
                  <a:pt x="3994040" y="10790"/>
                </a:lnTo>
                <a:lnTo>
                  <a:pt x="3998583" y="13488"/>
                </a:lnTo>
                <a:lnTo>
                  <a:pt x="4002574" y="16185"/>
                </a:lnTo>
                <a:lnTo>
                  <a:pt x="4006137" y="18883"/>
                </a:lnTo>
                <a:lnTo>
                  <a:pt x="40093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E676"/>
              </a:gs>
              <a:gs pos="100000">
                <a:srgbClr val="00E676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4414540" y="2530822"/>
            <a:ext cx="314920" cy="346412"/>
          </a:xfrm>
          <a:prstGeom prst="ellipse">
            <a:avLst/>
          </a:prstGeom>
          <a:solidFill>
            <a:srgbClr val="0A0A0A"/>
          </a:solidFill>
          <a:ln w="9525">
            <a:solidFill>
              <a:srgbClr val="00E676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spc="6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91220" y="1175296"/>
            <a:ext cx="7352109" cy="515541"/>
          </a:xfrm>
          <a:custGeom>
            <a:avLst/>
            <a:gdLst/>
            <a:ahLst/>
            <a:cxnLst/>
            <a:rect l="l" t="t" r="r" b="b"/>
            <a:pathLst>
              <a:path w="7352109" h="515541">
                <a:moveTo>
                  <a:pt x="0" y="0"/>
                </a:moveTo>
                <a:lnTo>
                  <a:pt x="7308929" y="0"/>
                </a:lnTo>
                <a:lnTo>
                  <a:pt x="7308929" y="0"/>
                </a:lnTo>
                <a:lnTo>
                  <a:pt x="7317353" y="830"/>
                </a:lnTo>
                <a:lnTo>
                  <a:pt x="7325454" y="3287"/>
                </a:lnTo>
                <a:lnTo>
                  <a:pt x="7332919" y="7277"/>
                </a:lnTo>
                <a:lnTo>
                  <a:pt x="7339462" y="12647"/>
                </a:lnTo>
                <a:lnTo>
                  <a:pt x="7344832" y="19190"/>
                </a:lnTo>
                <a:lnTo>
                  <a:pt x="7348822" y="26656"/>
                </a:lnTo>
                <a:lnTo>
                  <a:pt x="7351280" y="34756"/>
                </a:lnTo>
                <a:lnTo>
                  <a:pt x="7352109" y="43180"/>
                </a:lnTo>
                <a:lnTo>
                  <a:pt x="7352109" y="472361"/>
                </a:lnTo>
                <a:lnTo>
                  <a:pt x="7352109" y="472361"/>
                </a:lnTo>
                <a:lnTo>
                  <a:pt x="7351280" y="480785"/>
                </a:lnTo>
                <a:lnTo>
                  <a:pt x="7348822" y="488885"/>
                </a:lnTo>
                <a:lnTo>
                  <a:pt x="7344832" y="496350"/>
                </a:lnTo>
                <a:lnTo>
                  <a:pt x="7339462" y="502894"/>
                </a:lnTo>
                <a:lnTo>
                  <a:pt x="7332919" y="508263"/>
                </a:lnTo>
                <a:lnTo>
                  <a:pt x="7325454" y="512254"/>
                </a:lnTo>
                <a:lnTo>
                  <a:pt x="7317353" y="514711"/>
                </a:lnTo>
                <a:lnTo>
                  <a:pt x="7308929" y="515541"/>
                </a:lnTo>
                <a:lnTo>
                  <a:pt x="0" y="515541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91220" y="1818977"/>
            <a:ext cx="7352109" cy="515541"/>
          </a:xfrm>
          <a:custGeom>
            <a:avLst/>
            <a:gdLst/>
            <a:ahLst/>
            <a:cxnLst/>
            <a:rect l="l" t="t" r="r" b="b"/>
            <a:pathLst>
              <a:path w="7352109" h="515541">
                <a:moveTo>
                  <a:pt x="0" y="0"/>
                </a:moveTo>
                <a:lnTo>
                  <a:pt x="7308929" y="0"/>
                </a:lnTo>
                <a:lnTo>
                  <a:pt x="7308929" y="0"/>
                </a:lnTo>
                <a:lnTo>
                  <a:pt x="7317353" y="830"/>
                </a:lnTo>
                <a:lnTo>
                  <a:pt x="7325454" y="3287"/>
                </a:lnTo>
                <a:lnTo>
                  <a:pt x="7332919" y="7277"/>
                </a:lnTo>
                <a:lnTo>
                  <a:pt x="7339462" y="12647"/>
                </a:lnTo>
                <a:lnTo>
                  <a:pt x="7344832" y="19190"/>
                </a:lnTo>
                <a:lnTo>
                  <a:pt x="7348822" y="26656"/>
                </a:lnTo>
                <a:lnTo>
                  <a:pt x="7351280" y="34756"/>
                </a:lnTo>
                <a:lnTo>
                  <a:pt x="7352109" y="43180"/>
                </a:lnTo>
                <a:lnTo>
                  <a:pt x="7352109" y="472361"/>
                </a:lnTo>
                <a:lnTo>
                  <a:pt x="7352109" y="472361"/>
                </a:lnTo>
                <a:lnTo>
                  <a:pt x="7351280" y="480785"/>
                </a:lnTo>
                <a:lnTo>
                  <a:pt x="7348822" y="488885"/>
                </a:lnTo>
                <a:lnTo>
                  <a:pt x="7344832" y="496350"/>
                </a:lnTo>
                <a:lnTo>
                  <a:pt x="7339462" y="502894"/>
                </a:lnTo>
                <a:lnTo>
                  <a:pt x="7332919" y="508263"/>
                </a:lnTo>
                <a:lnTo>
                  <a:pt x="7325454" y="512254"/>
                </a:lnTo>
                <a:lnTo>
                  <a:pt x="7317353" y="514711"/>
                </a:lnTo>
                <a:lnTo>
                  <a:pt x="7308929" y="515541"/>
                </a:lnTo>
                <a:lnTo>
                  <a:pt x="0" y="515541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91220" y="2462659"/>
            <a:ext cx="7352109" cy="515541"/>
          </a:xfrm>
          <a:custGeom>
            <a:avLst/>
            <a:gdLst/>
            <a:ahLst/>
            <a:cxnLst/>
            <a:rect l="l" t="t" r="r" b="b"/>
            <a:pathLst>
              <a:path w="7352109" h="515541">
                <a:moveTo>
                  <a:pt x="0" y="0"/>
                </a:moveTo>
                <a:lnTo>
                  <a:pt x="7308929" y="0"/>
                </a:lnTo>
                <a:lnTo>
                  <a:pt x="7308929" y="0"/>
                </a:lnTo>
                <a:lnTo>
                  <a:pt x="7317353" y="830"/>
                </a:lnTo>
                <a:lnTo>
                  <a:pt x="7325454" y="3287"/>
                </a:lnTo>
                <a:lnTo>
                  <a:pt x="7332919" y="7277"/>
                </a:lnTo>
                <a:lnTo>
                  <a:pt x="7339462" y="12647"/>
                </a:lnTo>
                <a:lnTo>
                  <a:pt x="7344832" y="19190"/>
                </a:lnTo>
                <a:lnTo>
                  <a:pt x="7348822" y="26656"/>
                </a:lnTo>
                <a:lnTo>
                  <a:pt x="7351280" y="34756"/>
                </a:lnTo>
                <a:lnTo>
                  <a:pt x="7352109" y="43180"/>
                </a:lnTo>
                <a:lnTo>
                  <a:pt x="7352109" y="472361"/>
                </a:lnTo>
                <a:lnTo>
                  <a:pt x="7352109" y="472361"/>
                </a:lnTo>
                <a:lnTo>
                  <a:pt x="7351280" y="480785"/>
                </a:lnTo>
                <a:lnTo>
                  <a:pt x="7348822" y="488885"/>
                </a:lnTo>
                <a:lnTo>
                  <a:pt x="7344832" y="496350"/>
                </a:lnTo>
                <a:lnTo>
                  <a:pt x="7339462" y="502894"/>
                </a:lnTo>
                <a:lnTo>
                  <a:pt x="7332919" y="508263"/>
                </a:lnTo>
                <a:lnTo>
                  <a:pt x="7325454" y="512254"/>
                </a:lnTo>
                <a:lnTo>
                  <a:pt x="7317353" y="514711"/>
                </a:lnTo>
                <a:lnTo>
                  <a:pt x="7308929" y="515541"/>
                </a:lnTo>
                <a:lnTo>
                  <a:pt x="0" y="515541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91220" y="3106341"/>
            <a:ext cx="7352109" cy="515541"/>
          </a:xfrm>
          <a:custGeom>
            <a:avLst/>
            <a:gdLst/>
            <a:ahLst/>
            <a:cxnLst/>
            <a:rect l="l" t="t" r="r" b="b"/>
            <a:pathLst>
              <a:path w="7352109" h="515541">
                <a:moveTo>
                  <a:pt x="0" y="0"/>
                </a:moveTo>
                <a:lnTo>
                  <a:pt x="7308929" y="0"/>
                </a:lnTo>
                <a:lnTo>
                  <a:pt x="7308929" y="0"/>
                </a:lnTo>
                <a:lnTo>
                  <a:pt x="7317353" y="830"/>
                </a:lnTo>
                <a:lnTo>
                  <a:pt x="7325454" y="3287"/>
                </a:lnTo>
                <a:lnTo>
                  <a:pt x="7332919" y="7277"/>
                </a:lnTo>
                <a:lnTo>
                  <a:pt x="7339462" y="12647"/>
                </a:lnTo>
                <a:lnTo>
                  <a:pt x="7344832" y="19190"/>
                </a:lnTo>
                <a:lnTo>
                  <a:pt x="7348822" y="26656"/>
                </a:lnTo>
                <a:lnTo>
                  <a:pt x="7351280" y="34756"/>
                </a:lnTo>
                <a:lnTo>
                  <a:pt x="7352109" y="43180"/>
                </a:lnTo>
                <a:lnTo>
                  <a:pt x="7352109" y="472361"/>
                </a:lnTo>
                <a:lnTo>
                  <a:pt x="7352109" y="472361"/>
                </a:lnTo>
                <a:lnTo>
                  <a:pt x="7351280" y="480785"/>
                </a:lnTo>
                <a:lnTo>
                  <a:pt x="7348822" y="488885"/>
                </a:lnTo>
                <a:lnTo>
                  <a:pt x="7344832" y="496350"/>
                </a:lnTo>
                <a:lnTo>
                  <a:pt x="7339462" y="502894"/>
                </a:lnTo>
                <a:lnTo>
                  <a:pt x="7332919" y="508263"/>
                </a:lnTo>
                <a:lnTo>
                  <a:pt x="7325454" y="512254"/>
                </a:lnTo>
                <a:lnTo>
                  <a:pt x="7317353" y="514711"/>
                </a:lnTo>
                <a:lnTo>
                  <a:pt x="7308929" y="515541"/>
                </a:lnTo>
                <a:lnTo>
                  <a:pt x="0" y="515541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0745" y="3750022"/>
            <a:ext cx="7342584" cy="515541"/>
          </a:xfrm>
          <a:custGeom>
            <a:avLst/>
            <a:gdLst/>
            <a:ahLst/>
            <a:cxnLst/>
            <a:rect l="l" t="t" r="r" b="b"/>
            <a:pathLst>
              <a:path w="7342584" h="515541">
                <a:moveTo>
                  <a:pt x="0" y="0"/>
                </a:moveTo>
                <a:lnTo>
                  <a:pt x="7299404" y="0"/>
                </a:lnTo>
                <a:lnTo>
                  <a:pt x="7299404" y="0"/>
                </a:lnTo>
                <a:lnTo>
                  <a:pt x="7307828" y="830"/>
                </a:lnTo>
                <a:lnTo>
                  <a:pt x="7315929" y="3287"/>
                </a:lnTo>
                <a:lnTo>
                  <a:pt x="7323394" y="7277"/>
                </a:lnTo>
                <a:lnTo>
                  <a:pt x="7329937" y="12647"/>
                </a:lnTo>
                <a:lnTo>
                  <a:pt x="7335307" y="19190"/>
                </a:lnTo>
                <a:lnTo>
                  <a:pt x="7339297" y="26656"/>
                </a:lnTo>
                <a:lnTo>
                  <a:pt x="7341755" y="34756"/>
                </a:lnTo>
                <a:lnTo>
                  <a:pt x="7342584" y="43180"/>
                </a:lnTo>
                <a:lnTo>
                  <a:pt x="7342584" y="472361"/>
                </a:lnTo>
                <a:lnTo>
                  <a:pt x="7342584" y="472361"/>
                </a:lnTo>
                <a:lnTo>
                  <a:pt x="7341755" y="480785"/>
                </a:lnTo>
                <a:lnTo>
                  <a:pt x="7339297" y="488885"/>
                </a:lnTo>
                <a:lnTo>
                  <a:pt x="7335307" y="496350"/>
                </a:lnTo>
                <a:lnTo>
                  <a:pt x="7329937" y="502894"/>
                </a:lnTo>
                <a:lnTo>
                  <a:pt x="7323394" y="508263"/>
                </a:lnTo>
                <a:lnTo>
                  <a:pt x="7315929" y="512254"/>
                </a:lnTo>
                <a:lnTo>
                  <a:pt x="7307828" y="514711"/>
                </a:lnTo>
                <a:lnTo>
                  <a:pt x="7299404" y="515541"/>
                </a:lnTo>
                <a:lnTo>
                  <a:pt x="0" y="515541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3930" y="1690836"/>
            <a:ext cx="21580" cy="128141"/>
          </a:xfrm>
          <a:prstGeom prst="roundRect">
            <a:avLst>
              <a:gd name="adj" fmla="val 47081"/>
            </a:avLst>
          </a:prstGeom>
          <a:gradFill rotWithShape="1">
            <a:gsLst>
              <a:gs pos="0">
                <a:srgbClr val="00E676">
                  <a:alpha val="50000"/>
                </a:srgbClr>
              </a:gs>
              <a:gs pos="100000">
                <a:srgbClr val="00E676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 rot="-2700000">
            <a:off x="1422340" y="1761827"/>
            <a:ext cx="64740" cy="647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43930" y="2334518"/>
            <a:ext cx="21580" cy="128141"/>
          </a:xfrm>
          <a:prstGeom prst="roundRect">
            <a:avLst>
              <a:gd name="adj" fmla="val 47081"/>
            </a:avLst>
          </a:prstGeom>
          <a:gradFill rotWithShape="1">
            <a:gsLst>
              <a:gs pos="0">
                <a:srgbClr val="00E676">
                  <a:alpha val="50000"/>
                </a:srgbClr>
              </a:gs>
              <a:gs pos="100000">
                <a:srgbClr val="00E676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 rot="-2700000">
            <a:off x="1422340" y="2405509"/>
            <a:ext cx="64740" cy="647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43930" y="2978200"/>
            <a:ext cx="21580" cy="128141"/>
          </a:xfrm>
          <a:prstGeom prst="roundRect">
            <a:avLst>
              <a:gd name="adj" fmla="val 47081"/>
            </a:avLst>
          </a:prstGeom>
          <a:gradFill rotWithShape="1">
            <a:gsLst>
              <a:gs pos="0">
                <a:srgbClr val="00E676">
                  <a:alpha val="50000"/>
                </a:srgbClr>
              </a:gs>
              <a:gs pos="100000">
                <a:srgbClr val="00E676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 rot="-2700000">
            <a:off x="1422340" y="3049191"/>
            <a:ext cx="64740" cy="647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3930" y="3621881"/>
            <a:ext cx="21580" cy="128141"/>
          </a:xfrm>
          <a:prstGeom prst="roundRect">
            <a:avLst>
              <a:gd name="adj" fmla="val 47081"/>
            </a:avLst>
          </a:prstGeom>
          <a:gradFill rotWithShape="1">
            <a:gsLst>
              <a:gs pos="0">
                <a:srgbClr val="00E676">
                  <a:alpha val="50000"/>
                </a:srgbClr>
              </a:gs>
              <a:gs pos="100000">
                <a:srgbClr val="00E676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 rot="-2700000">
            <a:off x="1422340" y="3692872"/>
            <a:ext cx="64740" cy="647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298549"/>
            <a:ext cx="29170" cy="257770"/>
          </a:xfrm>
          <a:prstGeom prst="roundRect">
            <a:avLst>
              <a:gd name="adj" fmla="val 47892"/>
            </a:avLst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670" y="285750"/>
            <a:ext cx="2504145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SYNTHOS Stack</a:t>
            </a:r>
            <a:endParaRPr lang="en-US" sz="2030" dirty="0"/>
          </a:p>
        </p:txBody>
      </p:sp>
      <p:sp>
        <p:nvSpPr>
          <p:cNvPr id="19" name="Text 17"/>
          <p:cNvSpPr/>
          <p:nvPr/>
        </p:nvSpPr>
        <p:spPr>
          <a:xfrm>
            <a:off x="600670" y="1175296"/>
            <a:ext cx="582930" cy="54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20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LAYER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2170" y="1175296"/>
            <a:ext cx="7371159" cy="515541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214630" dist="50800" dir="16200000">
              <a:srgbClr val="00e676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72170" y="1175296"/>
            <a:ext cx="19050" cy="515541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34691" y="127560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5857" y="1366772"/>
            <a:ext cx="132588" cy="1325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93081" y="1279178"/>
            <a:ext cx="723667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101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Agent Runtime </a:t>
            </a:r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730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— Where agents live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1793081" y="1446907"/>
            <a:ext cx="72366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identity, wallets, governance primitives, and swarm coordination. The sovereign home for every agent on the network.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600670" y="1818977"/>
            <a:ext cx="582930" cy="54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20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LAYER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72170" y="1818977"/>
            <a:ext cx="7371159" cy="515541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43510" dist="50800" dir="16200000">
              <a:srgbClr val="00e676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172170" y="1818977"/>
            <a:ext cx="19050" cy="515541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1334691" y="191928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5857" y="2010454"/>
            <a:ext cx="132588" cy="13258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793081" y="1922859"/>
            <a:ext cx="723667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101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Self-Healing Mesh </a:t>
            </a:r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730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— Autonomous failure recovery</a:t>
            </a:r>
            <a:endParaRPr lang="en-US" sz="1010" dirty="0"/>
          </a:p>
        </p:txBody>
      </p:sp>
      <p:sp>
        <p:nvSpPr>
          <p:cNvPr id="32" name="Text 28"/>
          <p:cNvSpPr/>
          <p:nvPr/>
        </p:nvSpPr>
        <p:spPr>
          <a:xfrm>
            <a:off x="1793081" y="2090589"/>
            <a:ext cx="72366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reassignment, state reconstruction, swarm stabilization — all protocol-native. The network repairs itself without human intervention.</a:t>
            </a:r>
            <a:endParaRPr lang="en-US" sz="760" dirty="0"/>
          </a:p>
        </p:txBody>
      </p:sp>
      <p:sp>
        <p:nvSpPr>
          <p:cNvPr id="33" name="Text 29"/>
          <p:cNvSpPr/>
          <p:nvPr/>
        </p:nvSpPr>
        <p:spPr>
          <a:xfrm>
            <a:off x="600670" y="2462659"/>
            <a:ext cx="582930" cy="54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20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LAYER 2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172170" y="2462659"/>
            <a:ext cx="7371159" cy="515541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6680" dist="50800" dir="16200000">
              <a:srgbClr val="00e676">
                <a:alpha val="4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1172170" y="2462659"/>
            <a:ext cx="19050" cy="515541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1334691" y="2562969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5857" y="2654135"/>
            <a:ext cx="132588" cy="132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793081" y="2566541"/>
            <a:ext cx="723667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101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Obligation Engine </a:t>
            </a:r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730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— The economic core</a:t>
            </a:r>
            <a:endParaRPr lang="en-US" sz="1010" dirty="0"/>
          </a:p>
        </p:txBody>
      </p:sp>
      <p:sp>
        <p:nvSpPr>
          <p:cNvPr id="39" name="Text 34"/>
          <p:cNvSpPr/>
          <p:nvPr/>
        </p:nvSpPr>
        <p:spPr>
          <a:xfrm>
            <a:off x="1793081" y="2734270"/>
            <a:ext cx="72366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create, fulfill, transfer, and expire obligations. Lineage tracking records provenance of every economic relationship on-chain.</a:t>
            </a:r>
            <a:endParaRPr lang="en-US" sz="760" dirty="0"/>
          </a:p>
        </p:txBody>
      </p:sp>
      <p:sp>
        <p:nvSpPr>
          <p:cNvPr id="40" name="Text 35"/>
          <p:cNvSpPr/>
          <p:nvPr/>
        </p:nvSpPr>
        <p:spPr>
          <a:xfrm>
            <a:off x="600670" y="3106341"/>
            <a:ext cx="582930" cy="54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20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LAYER 1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1172170" y="3106341"/>
            <a:ext cx="7371159" cy="515541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71120" dist="50800" dir="16200000">
              <a:srgbClr val="00e676">
                <a:alpha val="3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1172170" y="3106341"/>
            <a:ext cx="19050" cy="515541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1334691" y="320665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5857" y="3297817"/>
            <a:ext cx="132588" cy="13258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793081" y="3210223"/>
            <a:ext cx="723667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101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Timestampless Consensus </a:t>
            </a:r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730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— Cryptographic time law</a:t>
            </a:r>
            <a:endParaRPr lang="en-US" sz="1010" dirty="0"/>
          </a:p>
        </p:txBody>
      </p:sp>
      <p:sp>
        <p:nvSpPr>
          <p:cNvPr id="46" name="Text 40"/>
          <p:cNvSpPr/>
          <p:nvPr/>
        </p:nvSpPr>
        <p:spPr>
          <a:xfrm>
            <a:off x="1793081" y="3377952"/>
            <a:ext cx="72366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agent-driven temporal proofs — not timestamps. Validators verify causal ordering without clocks. Time is proven, not measured.</a:t>
            </a:r>
            <a:endParaRPr lang="en-US" sz="760" dirty="0"/>
          </a:p>
        </p:txBody>
      </p:sp>
      <p:sp>
        <p:nvSpPr>
          <p:cNvPr id="47" name="Text 41"/>
          <p:cNvSpPr/>
          <p:nvPr/>
        </p:nvSpPr>
        <p:spPr>
          <a:xfrm>
            <a:off x="600670" y="3750022"/>
            <a:ext cx="582930" cy="54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20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LAYER 0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1172170" y="3750022"/>
            <a:ext cx="7371159" cy="515541"/>
          </a:xfrm>
          <a:prstGeom prst="rect">
            <a:avLst/>
          </a:prstGeom>
          <a:gradFill rotWithShape="1">
            <a:gsLst>
              <a:gs pos="0">
                <a:srgbClr val="111111"/>
              </a:gs>
              <a:gs pos="100000">
                <a:srgbClr val="141414"/>
              </a:gs>
            </a:gsLst>
            <a:lin ang="0" scaled="1"/>
          </a:gradFill>
          <a:ln/>
          <a:effectLst>
            <a:outerShdw sx="100000" sy="100000" kx="0" ky="0" algn="bl" rotWithShape="0" blurRad="57150" dist="50800" dir="16200000">
              <a:srgbClr val="00e676">
                <a:alpha val="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1172170" y="3750022"/>
            <a:ext cx="28575" cy="515541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1344216" y="385033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12000"/>
            </a:srgbClr>
          </a:solidFill>
          <a:ln w="9525">
            <a:solidFill>
              <a:srgbClr val="00E67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5382" y="3941499"/>
            <a:ext cx="132588" cy="132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802606" y="3853904"/>
            <a:ext cx="722620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101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Sovereign Ground </a:t>
            </a:r>
            <a:pPr algn="l" indent="0" marL="0">
              <a:lnSpc>
                <a:spcPts val="1212"/>
              </a:lnSpc>
              <a:spcAft>
                <a:spcPts val="110"/>
              </a:spcAft>
              <a:buNone/>
            </a:pPr>
            <a:r>
              <a:rPr lang="en-US" sz="730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— The base metal</a:t>
            </a:r>
            <a:endParaRPr lang="en-US" sz="1010" dirty="0"/>
          </a:p>
        </p:txBody>
      </p:sp>
      <p:sp>
        <p:nvSpPr>
          <p:cNvPr id="53" name="Text 46"/>
          <p:cNvSpPr/>
          <p:nvPr/>
        </p:nvSpPr>
        <p:spPr>
          <a:xfrm>
            <a:off x="1802606" y="4021634"/>
            <a:ext cx="722620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chain dependencies. No Ethereum. No ERC-20. Own consensus, own time, own state. The foundation is sovereign from genesis.</a:t>
            </a:r>
            <a:endParaRPr lang="en-US" sz="760" dirty="0"/>
          </a:p>
        </p:txBody>
      </p:sp>
      <p:sp>
        <p:nvSpPr>
          <p:cNvPr id="54" name="Text 47"/>
          <p:cNvSpPr/>
          <p:nvPr/>
        </p:nvSpPr>
        <p:spPr>
          <a:xfrm>
            <a:off x="45720" y="4785420"/>
            <a:ext cx="90525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0"/>
              </a:lnSpc>
              <a:spcBef>
                <a:spcPts val="450"/>
              </a:spcBef>
              <a:buNone/>
            </a:pPr>
            <a:r>
              <a:rPr lang="en-US" sz="680" spc="110" kern="0" dirty="0">
                <a:solidFill>
                  <a:srgbClr val="7A8A7A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SOVEREIGN · ZERO EXTERNAL DEPENDENCIES · BUILT FROM FIRST PRINCIPLES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8780" y="0"/>
            <a:ext cx="2715220" cy="2715220"/>
          </a:xfrm>
          <a:prstGeom prst="rect">
            <a:avLst/>
          </a:prstGeom>
          <a:gradFill rotWithShape="1">
            <a:gsLst>
              <a:gs pos="0">
                <a:srgbClr val="00E676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000970"/>
            <a:ext cx="2142530" cy="214253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00050"/>
            <a:ext cx="905256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840" spc="34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GAP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457200" y="617190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360" spc="-24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Built for Humans. </a:t>
            </a:r>
            <a:pPr algn="l" indent="0" marL="0">
              <a:lnSpc>
                <a:spcPts val="2596"/>
              </a:lnSpc>
              <a:buNone/>
            </a:pPr>
            <a:r>
              <a:rPr lang="en-US" sz="2360" b="1" spc="-24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Broken for Agents.</a:t>
            </a:r>
            <a:endParaRPr lang="en-US" sz="2360" dirty="0"/>
          </a:p>
        </p:txBody>
      </p:sp>
      <p:sp>
        <p:nvSpPr>
          <p:cNvPr id="6" name="Text 4"/>
          <p:cNvSpPr/>
          <p:nvPr/>
        </p:nvSpPr>
        <p:spPr>
          <a:xfrm>
            <a:off x="457200" y="1033165"/>
            <a:ext cx="4292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E67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332756"/>
            <a:ext cx="4043065" cy="1590973"/>
          </a:xfrm>
          <a:prstGeom prst="roundRect">
            <a:avLst>
              <a:gd name="adj" fmla="val 3592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332756"/>
            <a:ext cx="19050" cy="1590973"/>
          </a:xfrm>
          <a:custGeom>
            <a:avLst/>
            <a:gdLst/>
            <a:ahLst/>
            <a:cxnLst/>
            <a:rect l="l" t="t" r="r" b="b"/>
            <a:pathLst>
              <a:path w="19050" h="159097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6420"/>
                </a:lnTo>
                <a:lnTo>
                  <a:pt x="16669" y="1574164"/>
                </a:lnTo>
                <a:lnTo>
                  <a:pt x="14288" y="1571624"/>
                </a:lnTo>
                <a:lnTo>
                  <a:pt x="11906" y="1568739"/>
                </a:lnTo>
                <a:lnTo>
                  <a:pt x="9525" y="1565414"/>
                </a:lnTo>
                <a:lnTo>
                  <a:pt x="7144" y="1561490"/>
                </a:lnTo>
                <a:lnTo>
                  <a:pt x="4763" y="1556663"/>
                </a:lnTo>
                <a:lnTo>
                  <a:pt x="2381" y="1550148"/>
                </a:lnTo>
                <a:lnTo>
                  <a:pt x="0" y="1533823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18980" y="1442591"/>
            <a:ext cx="157460" cy="157460"/>
          </a:xfrm>
          <a:prstGeom prst="ellipse">
            <a:avLst/>
          </a:prstGeom>
          <a:solidFill>
            <a:srgbClr val="FF3C3C">
              <a:alpha val="10000"/>
            </a:srgbClr>
          </a:solidFill>
          <a:ln w="9525">
            <a:solidFill>
              <a:srgbClr val="FF3C3C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31341" y="1454953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870" y="154290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962" y="1633993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870" y="1972121"/>
            <a:ext cx="397457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11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Borrowed Time</a:t>
            </a:r>
            <a:endParaRPr lang="en-US" sz="1130" dirty="0"/>
          </a:p>
        </p:txBody>
      </p:sp>
      <p:sp>
        <p:nvSpPr>
          <p:cNvPr id="14" name="Text 10"/>
          <p:cNvSpPr/>
          <p:nvPr/>
        </p:nvSpPr>
        <p:spPr>
          <a:xfrm>
            <a:off x="676870" y="2258318"/>
            <a:ext cx="3685514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A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inherit block timestamps from miners and validators. They cannot define, own, or verify their own temporal reality. Time is rented — never sovereign.</a:t>
            </a:r>
            <a:endParaRPr lang="en-US" sz="820" dirty="0"/>
          </a:p>
        </p:txBody>
      </p:sp>
      <p:sp>
        <p:nvSpPr>
          <p:cNvPr id="15" name="Text 11"/>
          <p:cNvSpPr/>
          <p:nvPr/>
        </p:nvSpPr>
        <p:spPr>
          <a:xfrm>
            <a:off x="4643735" y="1332756"/>
            <a:ext cx="4043065" cy="1590973"/>
          </a:xfrm>
          <a:prstGeom prst="roundRect">
            <a:avLst>
              <a:gd name="adj" fmla="val 3592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643735" y="1332756"/>
            <a:ext cx="19050" cy="1590973"/>
          </a:xfrm>
          <a:custGeom>
            <a:avLst/>
            <a:gdLst/>
            <a:ahLst/>
            <a:cxnLst/>
            <a:rect l="l" t="t" r="r" b="b"/>
            <a:pathLst>
              <a:path w="19050" h="159097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6420"/>
                </a:lnTo>
                <a:lnTo>
                  <a:pt x="16669" y="1574164"/>
                </a:lnTo>
                <a:lnTo>
                  <a:pt x="14288" y="1571624"/>
                </a:lnTo>
                <a:lnTo>
                  <a:pt x="11906" y="1568739"/>
                </a:lnTo>
                <a:lnTo>
                  <a:pt x="9525" y="1565414"/>
                </a:lnTo>
                <a:lnTo>
                  <a:pt x="7144" y="1561490"/>
                </a:lnTo>
                <a:lnTo>
                  <a:pt x="4763" y="1556663"/>
                </a:lnTo>
                <a:lnTo>
                  <a:pt x="2381" y="1550148"/>
                </a:lnTo>
                <a:lnTo>
                  <a:pt x="0" y="1533823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405515" y="1442591"/>
            <a:ext cx="157460" cy="157460"/>
          </a:xfrm>
          <a:prstGeom prst="ellipse">
            <a:avLst/>
          </a:prstGeom>
          <a:solidFill>
            <a:srgbClr val="FF3C3C">
              <a:alpha val="10000"/>
            </a:srgbClr>
          </a:solidFill>
          <a:ln w="9525">
            <a:solidFill>
              <a:srgbClr val="FF3C3C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7877" y="1454953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63405" y="154290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4497" y="1633993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63405" y="1972121"/>
            <a:ext cx="397457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11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No Self-Healing</a:t>
            </a:r>
            <a:endParaRPr lang="en-US" sz="1130" dirty="0"/>
          </a:p>
        </p:txBody>
      </p:sp>
      <p:sp>
        <p:nvSpPr>
          <p:cNvPr id="22" name="Text 16"/>
          <p:cNvSpPr/>
          <p:nvPr/>
        </p:nvSpPr>
        <p:spPr>
          <a:xfrm>
            <a:off x="4863405" y="2258318"/>
            <a:ext cx="3685514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A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node fails, the network shrugs. There is no protocol-level mechanism for obligations to be reassigned or state to be reconstructed autonomously.</a:t>
            </a:r>
            <a:endParaRPr lang="en-US" sz="820" dirty="0"/>
          </a:p>
        </p:txBody>
      </p:sp>
      <p:sp>
        <p:nvSpPr>
          <p:cNvPr id="23" name="Text 17"/>
          <p:cNvSpPr/>
          <p:nvPr/>
        </p:nvSpPr>
        <p:spPr>
          <a:xfrm>
            <a:off x="457200" y="3067199"/>
            <a:ext cx="4043065" cy="1590973"/>
          </a:xfrm>
          <a:prstGeom prst="roundRect">
            <a:avLst>
              <a:gd name="adj" fmla="val 3592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57200" y="3067199"/>
            <a:ext cx="19050" cy="1590973"/>
          </a:xfrm>
          <a:custGeom>
            <a:avLst/>
            <a:gdLst/>
            <a:ahLst/>
            <a:cxnLst/>
            <a:rect l="l" t="t" r="r" b="b"/>
            <a:pathLst>
              <a:path w="19050" h="159097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6420"/>
                </a:lnTo>
                <a:lnTo>
                  <a:pt x="16669" y="1574164"/>
                </a:lnTo>
                <a:lnTo>
                  <a:pt x="14288" y="1571624"/>
                </a:lnTo>
                <a:lnTo>
                  <a:pt x="11906" y="1568739"/>
                </a:lnTo>
                <a:lnTo>
                  <a:pt x="9525" y="1565414"/>
                </a:lnTo>
                <a:lnTo>
                  <a:pt x="7144" y="1561490"/>
                </a:lnTo>
                <a:lnTo>
                  <a:pt x="4763" y="1556663"/>
                </a:lnTo>
                <a:lnTo>
                  <a:pt x="2381" y="1550148"/>
                </a:lnTo>
                <a:lnTo>
                  <a:pt x="0" y="1533823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218980" y="3177034"/>
            <a:ext cx="157460" cy="157460"/>
          </a:xfrm>
          <a:prstGeom prst="ellipse">
            <a:avLst/>
          </a:prstGeom>
          <a:solidFill>
            <a:srgbClr val="FF3C3C">
              <a:alpha val="10000"/>
            </a:srgbClr>
          </a:solidFill>
          <a:ln w="9525">
            <a:solidFill>
              <a:srgbClr val="FF3C3C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31341" y="3189396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6870" y="327734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962" y="3368436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6870" y="3706564"/>
            <a:ext cx="397457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11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Human Governance</a:t>
            </a:r>
            <a:endParaRPr lang="en-US" sz="1130" dirty="0"/>
          </a:p>
        </p:txBody>
      </p:sp>
      <p:sp>
        <p:nvSpPr>
          <p:cNvPr id="30" name="Text 22"/>
          <p:cNvSpPr/>
          <p:nvPr/>
        </p:nvSpPr>
        <p:spPr>
          <a:xfrm>
            <a:off x="676870" y="3992761"/>
            <a:ext cx="3685514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A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require human voting. Agent swarms have no native governance primitive. Every decision bottlenecks at human speed — too slow for machine-scale coordination.</a:t>
            </a:r>
            <a:endParaRPr lang="en-US" sz="820" dirty="0"/>
          </a:p>
        </p:txBody>
      </p:sp>
      <p:sp>
        <p:nvSpPr>
          <p:cNvPr id="31" name="Text 23"/>
          <p:cNvSpPr/>
          <p:nvPr/>
        </p:nvSpPr>
        <p:spPr>
          <a:xfrm>
            <a:off x="4643735" y="3067199"/>
            <a:ext cx="4043065" cy="1590973"/>
          </a:xfrm>
          <a:prstGeom prst="roundRect">
            <a:avLst>
              <a:gd name="adj" fmla="val 3592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4643735" y="3067199"/>
            <a:ext cx="19050" cy="1590973"/>
          </a:xfrm>
          <a:custGeom>
            <a:avLst/>
            <a:gdLst/>
            <a:ahLst/>
            <a:cxnLst/>
            <a:rect l="l" t="t" r="r" b="b"/>
            <a:pathLst>
              <a:path w="19050" h="159097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6420"/>
                </a:lnTo>
                <a:lnTo>
                  <a:pt x="16669" y="1574164"/>
                </a:lnTo>
                <a:lnTo>
                  <a:pt x="14288" y="1571624"/>
                </a:lnTo>
                <a:lnTo>
                  <a:pt x="11906" y="1568739"/>
                </a:lnTo>
                <a:lnTo>
                  <a:pt x="9525" y="1565414"/>
                </a:lnTo>
                <a:lnTo>
                  <a:pt x="7144" y="1561490"/>
                </a:lnTo>
                <a:lnTo>
                  <a:pt x="4763" y="1556663"/>
                </a:lnTo>
                <a:lnTo>
                  <a:pt x="2381" y="1550148"/>
                </a:lnTo>
                <a:lnTo>
                  <a:pt x="0" y="1533823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8405515" y="3177034"/>
            <a:ext cx="157460" cy="157460"/>
          </a:xfrm>
          <a:prstGeom prst="ellipse">
            <a:avLst/>
          </a:prstGeom>
          <a:solidFill>
            <a:srgbClr val="FF3C3C">
              <a:alpha val="10000"/>
            </a:srgbClr>
          </a:solidFill>
          <a:ln w="9525">
            <a:solidFill>
              <a:srgbClr val="FF3C3C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7877" y="3189396"/>
            <a:ext cx="132588" cy="132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863405" y="327734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54497" y="3368436"/>
            <a:ext cx="132588" cy="13258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863405" y="3706564"/>
            <a:ext cx="397457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11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Parasitic Economics</a:t>
            </a:r>
            <a:endParaRPr lang="en-US" sz="1130" dirty="0"/>
          </a:p>
        </p:txBody>
      </p:sp>
      <p:sp>
        <p:nvSpPr>
          <p:cNvPr id="38" name="Text 28"/>
          <p:cNvSpPr/>
          <p:nvPr/>
        </p:nvSpPr>
        <p:spPr>
          <a:xfrm>
            <a:off x="4863405" y="3992761"/>
            <a:ext cx="3685514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A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pay gas to networks that give nothing back. No native obligation exchange, no lineage tracking, no economic identity. Value flows out — never in.</a:t>
            </a:r>
            <a:endParaRPr lang="en-US" sz="820" dirty="0"/>
          </a:p>
        </p:txBody>
      </p:sp>
      <p:sp>
        <p:nvSpPr>
          <p:cNvPr id="39" name="Text 29"/>
          <p:cNvSpPr/>
          <p:nvPr/>
        </p:nvSpPr>
        <p:spPr>
          <a:xfrm>
            <a:off x="457200" y="4849564"/>
            <a:ext cx="43160" cy="43160"/>
          </a:xfrm>
          <a:prstGeom prst="ellipse">
            <a:avLst/>
          </a:prstGeom>
          <a:solidFill>
            <a:srgbClr val="FF3C3C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0"/>
          <p:cNvSpPr/>
          <p:nvPr/>
        </p:nvSpPr>
        <p:spPr>
          <a:xfrm>
            <a:off x="571351" y="4801642"/>
            <a:ext cx="614931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15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L1 infrastructure was designed for human wallets, human time, and human governance — agents are tenants, not citizens.</a:t>
            </a:r>
            <a:endParaRPr lang="en-US" sz="730" dirty="0"/>
          </a:p>
        </p:txBody>
      </p:sp>
      <p:sp>
        <p:nvSpPr>
          <p:cNvPr id="41" name="Text 31"/>
          <p:cNvSpPr/>
          <p:nvPr/>
        </p:nvSpPr>
        <p:spPr>
          <a:xfrm>
            <a:off x="476250" y="1342281"/>
            <a:ext cx="4014492" cy="1571920"/>
          </a:xfrm>
          <a:prstGeom prst="roundRect">
            <a:avLst>
              <a:gd name="adj" fmla="val 3636"/>
            </a:avLst>
          </a:prstGeom>
          <a:gradFill rotWithShape="1">
            <a:gsLst>
              <a:gs pos="0">
                <a:srgbClr val="00E676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2"/>
          <p:cNvSpPr/>
          <p:nvPr/>
        </p:nvSpPr>
        <p:spPr>
          <a:xfrm>
            <a:off x="4662785" y="1342281"/>
            <a:ext cx="4014492" cy="1571920"/>
          </a:xfrm>
          <a:prstGeom prst="roundRect">
            <a:avLst>
              <a:gd name="adj" fmla="val 3636"/>
            </a:avLst>
          </a:prstGeom>
          <a:gradFill rotWithShape="1">
            <a:gsLst>
              <a:gs pos="0">
                <a:srgbClr val="00E676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476250" y="3076724"/>
            <a:ext cx="4014492" cy="1571920"/>
          </a:xfrm>
          <a:prstGeom prst="roundRect">
            <a:avLst>
              <a:gd name="adj" fmla="val 3636"/>
            </a:avLst>
          </a:prstGeom>
          <a:gradFill rotWithShape="1">
            <a:gsLst>
              <a:gs pos="0">
                <a:srgbClr val="00E676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4"/>
          <p:cNvSpPr/>
          <p:nvPr/>
        </p:nvSpPr>
        <p:spPr>
          <a:xfrm>
            <a:off x="4662785" y="3076724"/>
            <a:ext cx="4014492" cy="1571920"/>
          </a:xfrm>
          <a:prstGeom prst="roundRect">
            <a:avLst>
              <a:gd name="adj" fmla="val 3636"/>
            </a:avLst>
          </a:prstGeom>
          <a:gradFill rotWithShape="1">
            <a:gsLst>
              <a:gs pos="0">
                <a:srgbClr val="00E676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400050"/>
            <a:ext cx="13841" cy="4343400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E676">
                  <a:alpha val="30000"/>
                </a:srgbClr>
              </a:gs>
              <a:gs pos="66667">
                <a:srgbClr val="00E67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239" y="537799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3545" y="545157"/>
            <a:ext cx="143279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620" dirty="0"/>
          </a:p>
        </p:txBody>
      </p:sp>
      <p:sp>
        <p:nvSpPr>
          <p:cNvPr id="5" name="Text 2"/>
          <p:cNvSpPr/>
          <p:nvPr/>
        </p:nvSpPr>
        <p:spPr>
          <a:xfrm>
            <a:off x="600670" y="806648"/>
            <a:ext cx="2243673" cy="93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5"/>
              </a:lnSpc>
              <a:spcAft>
                <a:spcPts val="1350"/>
              </a:spcAft>
              <a:buNone/>
            </a:pPr>
            <a:r>
              <a:rPr lang="en-US" sz="2030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Agents as</a:t>
            </a:r>
            <a:br/>
            <a:pPr algn="l" indent="0" marL="0">
              <a:lnSpc>
                <a:spcPts val="2335"/>
              </a:lnSpc>
              <a:spcAft>
                <a:spcPts val="1350"/>
              </a:spcAft>
              <a:buNone/>
            </a:pPr>
            <a:r>
              <a:rPr lang="en-US" sz="2030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First-Class</a:t>
            </a:r>
            <a:br/>
            <a:pPr algn="l" indent="0" marL="0">
              <a:lnSpc>
                <a:spcPts val="2335"/>
              </a:lnSpc>
              <a:spcAft>
                <a:spcPts val="1350"/>
              </a:spcAft>
              <a:buNone/>
            </a:pPr>
            <a:r>
              <a:rPr lang="en-US" sz="2030" b="1" spc="-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Citizens</a:t>
            </a:r>
            <a:endParaRPr lang="en-US" sz="2030" dirty="0"/>
          </a:p>
        </p:txBody>
      </p:sp>
      <p:sp>
        <p:nvSpPr>
          <p:cNvPr id="6" name="Text 3"/>
          <p:cNvSpPr/>
          <p:nvPr/>
        </p:nvSpPr>
        <p:spPr>
          <a:xfrm>
            <a:off x="600670" y="1867049"/>
            <a:ext cx="2243673" cy="114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spcAft>
                <a:spcPts val="1580"/>
              </a:spcAft>
              <a:buNone/>
            </a:pPr>
            <a:r>
              <a:rPr lang="en-US" sz="87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existing blockchain, agents are afterthoughts — scripts running inside systems designed for human wallets and human signatures. SYNTHOS inverts this entirely. </a:t>
            </a:r>
            <a:pPr algn="l" indent="0" marL="0">
              <a:lnSpc>
                <a:spcPts val="1436"/>
              </a:lnSpc>
              <a:spcAft>
                <a:spcPts val="1580"/>
              </a:spcAft>
              <a:buNone/>
            </a:pPr>
            <a:r>
              <a:rPr lang="en-US" sz="87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not users of the network. They </a:t>
            </a:r>
            <a:pPr algn="l" indent="0" marL="0">
              <a:lnSpc>
                <a:spcPts val="1436"/>
              </a:lnSpc>
              <a:spcAft>
                <a:spcPts val="1580"/>
              </a:spcAft>
              <a:buNone/>
            </a:pPr>
            <a:r>
              <a:rPr lang="en-US" sz="87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algn="l" indent="0" marL="0">
              <a:lnSpc>
                <a:spcPts val="1436"/>
              </a:lnSpc>
              <a:spcAft>
                <a:spcPts val="1580"/>
              </a:spcAft>
              <a:buNone/>
            </a:pPr>
            <a:r>
              <a:rPr lang="en-US" sz="87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network.</a:t>
            </a:r>
            <a:endParaRPr lang="en-US" sz="870" dirty="0"/>
          </a:p>
        </p:txBody>
      </p:sp>
      <p:sp>
        <p:nvSpPr>
          <p:cNvPr id="7" name="Text 4"/>
          <p:cNvSpPr/>
          <p:nvPr/>
        </p:nvSpPr>
        <p:spPr>
          <a:xfrm>
            <a:off x="600670" y="3160663"/>
            <a:ext cx="2243673" cy="67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spcAft>
                <a:spcPts val="1580"/>
              </a:spcAft>
              <a:buNone/>
            </a:pPr>
            <a:r>
              <a:rPr lang="en-US" sz="79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genesis, every agent on SYNTHOS possesses sovereign identity, native economic authority, and the ability to coordinate in swarms — without a single human intermediary.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600670" y="4003030"/>
            <a:ext cx="2199680" cy="595164"/>
          </a:xfrm>
          <a:prstGeom prst="roundRect">
            <a:avLst>
              <a:gd name="adj" fmla="val 9602"/>
            </a:avLst>
          </a:prstGeom>
          <a:solidFill>
            <a:srgbClr val="00E676">
              <a:alpha val="6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8336" y="4150072"/>
            <a:ext cx="107332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58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6</a:t>
            </a:r>
            <a:endParaRPr lang="en-US" sz="1580" dirty="0"/>
          </a:p>
        </p:txBody>
      </p:sp>
      <p:sp>
        <p:nvSpPr>
          <p:cNvPr id="10" name="Text 7"/>
          <p:cNvSpPr/>
          <p:nvPr/>
        </p:nvSpPr>
        <p:spPr>
          <a:xfrm>
            <a:off x="924967" y="4112865"/>
            <a:ext cx="87135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capabilitiesbuilt into every agentat the protocol level</a:t>
            </a:r>
            <a:endParaRPr lang="en-US" sz="73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3610" y="356741"/>
            <a:ext cx="3750915" cy="33222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220" y="356741"/>
            <a:ext cx="1393180" cy="697706"/>
          </a:xfrm>
          <a:prstGeom prst="roundRect">
            <a:avLst>
              <a:gd name="adj" fmla="val 8191"/>
            </a:avLst>
          </a:prstGeom>
          <a:solidFill>
            <a:srgbClr val="00E676">
              <a:alpha val="4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351" y="451256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72384" y="437257"/>
            <a:ext cx="10770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Cryptographic Identity</a:t>
            </a:r>
            <a:endParaRPr lang="en-US" sz="730" dirty="0"/>
          </a:p>
        </p:txBody>
      </p:sp>
      <p:sp>
        <p:nvSpPr>
          <p:cNvPr id="15" name="Text 10"/>
          <p:cNvSpPr/>
          <p:nvPr/>
        </p:nvSpPr>
        <p:spPr>
          <a:xfrm>
            <a:off x="3954066" y="627013"/>
            <a:ext cx="1225519" cy="36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key pair and on-chain identity from genesis. No human account required.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7321600" y="356741"/>
            <a:ext cx="1393180" cy="813346"/>
          </a:xfrm>
          <a:prstGeom prst="roundRect">
            <a:avLst>
              <a:gd name="adj" fmla="val 7027"/>
            </a:avLst>
          </a:prstGeom>
          <a:solidFill>
            <a:srgbClr val="00E676">
              <a:alpha val="4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8730" y="451256"/>
            <a:ext cx="132588" cy="132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35763" y="437257"/>
            <a:ext cx="6255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Native Wallet</a:t>
            </a:r>
            <a:endParaRPr lang="en-US" sz="730" dirty="0"/>
          </a:p>
        </p:txBody>
      </p:sp>
      <p:sp>
        <p:nvSpPr>
          <p:cNvPr id="19" name="Text 13"/>
          <p:cNvSpPr/>
          <p:nvPr/>
        </p:nvSpPr>
        <p:spPr>
          <a:xfrm>
            <a:off x="7417445" y="627013"/>
            <a:ext cx="1225519" cy="48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Hold, send, and receive SYN tokens without human intermediation or custodial dependency.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3535561" y="1964680"/>
            <a:ext cx="1393180" cy="697706"/>
          </a:xfrm>
          <a:prstGeom prst="roundRect">
            <a:avLst>
              <a:gd name="adj" fmla="val 8191"/>
            </a:avLst>
          </a:prstGeom>
          <a:solidFill>
            <a:srgbClr val="00E676">
              <a:alpha val="4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2691" y="2059195"/>
            <a:ext cx="132588" cy="132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725" y="2045196"/>
            <a:ext cx="969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Obligation Authority</a:t>
            </a:r>
            <a:endParaRPr lang="en-US" sz="730" dirty="0"/>
          </a:p>
        </p:txBody>
      </p:sp>
      <p:sp>
        <p:nvSpPr>
          <p:cNvPr id="23" name="Text 16"/>
          <p:cNvSpPr/>
          <p:nvPr/>
        </p:nvSpPr>
        <p:spPr>
          <a:xfrm>
            <a:off x="3631406" y="2234952"/>
            <a:ext cx="1225519" cy="36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accept, transfer, and enforce economic obligations at the protocol level.</a:t>
            </a:r>
            <a:endParaRPr lang="en-US" sz="650" dirty="0"/>
          </a:p>
        </p:txBody>
      </p:sp>
      <p:sp>
        <p:nvSpPr>
          <p:cNvPr id="24" name="Text 17"/>
          <p:cNvSpPr/>
          <p:nvPr/>
        </p:nvSpPr>
        <p:spPr>
          <a:xfrm>
            <a:off x="7500640" y="1964680"/>
            <a:ext cx="1393180" cy="813346"/>
          </a:xfrm>
          <a:prstGeom prst="roundRect">
            <a:avLst>
              <a:gd name="adj" fmla="val 7027"/>
            </a:avLst>
          </a:prstGeom>
          <a:solidFill>
            <a:srgbClr val="00E676">
              <a:alpha val="4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7770" y="2059195"/>
            <a:ext cx="132588" cy="1325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14804" y="2045196"/>
            <a:ext cx="101484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Temporal Sovereignty</a:t>
            </a:r>
            <a:endParaRPr lang="en-US" sz="730" dirty="0"/>
          </a:p>
        </p:txBody>
      </p:sp>
      <p:sp>
        <p:nvSpPr>
          <p:cNvPr id="27" name="Text 19"/>
          <p:cNvSpPr/>
          <p:nvPr/>
        </p:nvSpPr>
        <p:spPr>
          <a:xfrm>
            <a:off x="7596485" y="2234952"/>
            <a:ext cx="1225519" cy="48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timestampless proofs that define causal position in the network. Own time, not borrow it.</a:t>
            </a:r>
            <a:endParaRPr lang="en-US" sz="650" dirty="0"/>
          </a:p>
        </p:txBody>
      </p:sp>
      <p:sp>
        <p:nvSpPr>
          <p:cNvPr id="28" name="Text 20"/>
          <p:cNvSpPr/>
          <p:nvPr/>
        </p:nvSpPr>
        <p:spPr>
          <a:xfrm>
            <a:off x="3858220" y="3865364"/>
            <a:ext cx="1393180" cy="813346"/>
          </a:xfrm>
          <a:prstGeom prst="roundRect">
            <a:avLst>
              <a:gd name="adj" fmla="val 7027"/>
            </a:avLst>
          </a:prstGeom>
          <a:solidFill>
            <a:srgbClr val="00E676">
              <a:alpha val="4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5351" y="3959879"/>
            <a:ext cx="132588" cy="132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072384" y="3945880"/>
            <a:ext cx="9356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Swarm Membership</a:t>
            </a:r>
            <a:endParaRPr lang="en-US" sz="730" dirty="0"/>
          </a:p>
        </p:txBody>
      </p:sp>
      <p:sp>
        <p:nvSpPr>
          <p:cNvPr id="31" name="Text 22"/>
          <p:cNvSpPr/>
          <p:nvPr/>
        </p:nvSpPr>
        <p:spPr>
          <a:xfrm>
            <a:off x="3954066" y="4135636"/>
            <a:ext cx="1225519" cy="48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join, and govern swarms — native multi-agent coordination primitives at protocol level.</a:t>
            </a:r>
            <a:endParaRPr lang="en-US" sz="650" dirty="0"/>
          </a:p>
        </p:txBody>
      </p:sp>
      <p:sp>
        <p:nvSpPr>
          <p:cNvPr id="32" name="Text 23"/>
          <p:cNvSpPr/>
          <p:nvPr/>
        </p:nvSpPr>
        <p:spPr>
          <a:xfrm>
            <a:off x="7321600" y="3865364"/>
            <a:ext cx="1393180" cy="813346"/>
          </a:xfrm>
          <a:prstGeom prst="roundRect">
            <a:avLst>
              <a:gd name="adj" fmla="val 7027"/>
            </a:avLst>
          </a:prstGeom>
          <a:solidFill>
            <a:srgbClr val="00E676">
              <a:alpha val="4000"/>
            </a:srgbClr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88730" y="3959879"/>
            <a:ext cx="132588" cy="132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535763" y="3945880"/>
            <a:ext cx="72638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Lineage Record</a:t>
            </a:r>
            <a:endParaRPr lang="en-US" sz="730" dirty="0"/>
          </a:p>
        </p:txBody>
      </p:sp>
      <p:sp>
        <p:nvSpPr>
          <p:cNvPr id="35" name="Text 25"/>
          <p:cNvSpPr/>
          <p:nvPr/>
        </p:nvSpPr>
        <p:spPr>
          <a:xfrm>
            <a:off x="7417445" y="4135636"/>
            <a:ext cx="1225519" cy="48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economic interaction tracked on-chain. Reputation built through provenance, not promises.</a:t>
            </a:r>
            <a:endParaRPr lang="en-US" sz="650" dirty="0"/>
          </a:p>
        </p:txBody>
      </p:sp>
      <p:sp>
        <p:nvSpPr>
          <p:cNvPr id="36" name="Text 26"/>
          <p:cNvSpPr/>
          <p:nvPr/>
        </p:nvSpPr>
        <p:spPr>
          <a:xfrm>
            <a:off x="8330952" y="4904036"/>
            <a:ext cx="29170" cy="2917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7"/>
          <p:cNvSpPr/>
          <p:nvPr/>
        </p:nvSpPr>
        <p:spPr>
          <a:xfrm>
            <a:off x="8417272" y="4865340"/>
            <a:ext cx="48507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</a:t>
            </a:r>
            <a:endParaRPr lang="en-US" sz="560" dirty="0"/>
          </a:p>
        </p:txBody>
      </p:sp>
      <p:sp>
        <p:nvSpPr>
          <p:cNvPr id="38" name="Text 28"/>
          <p:cNvSpPr/>
          <p:nvPr/>
        </p:nvSpPr>
        <p:spPr>
          <a:xfrm>
            <a:off x="4857750" y="0"/>
            <a:ext cx="4286250" cy="428625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30000" t="60000" r="70000" b="4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9"/>
          <p:cNvSpPr/>
          <p:nvPr/>
        </p:nvSpPr>
        <p:spPr>
          <a:xfrm>
            <a:off x="6036915" y="2214860"/>
            <a:ext cx="714970" cy="714970"/>
          </a:xfrm>
          <a:prstGeom prst="ellipse">
            <a:avLst/>
          </a:prstGeom>
          <a:gradFill rotWithShape="1">
            <a:gsLst>
              <a:gs pos="0">
                <a:srgbClr val="00E676">
                  <a:alpha val="12000"/>
                </a:srgbClr>
              </a:gs>
              <a:gs pos="7000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00E676"/>
            </a:solidFill>
          </a:ln>
          <a:effectLst>
            <a:outerShdw sx="100000" sy="100000" kx="0" ky="0" algn="bl" rotWithShape="0" blurRad="285750" dist="50800" dir="16200000">
              <a:srgbClr val="00e676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87244" y="2465189"/>
            <a:ext cx="214313" cy="214313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236196" y="2971800"/>
            <a:ext cx="3668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560" spc="14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5989290" y="2167235"/>
            <a:ext cx="810220" cy="810220"/>
          </a:xfrm>
          <a:prstGeom prst="ellipse">
            <a:avLst/>
          </a:prstGeom>
          <a:noFill/>
          <a:ln w="9525">
            <a:solidFill>
              <a:srgbClr val="00E676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5918170" y="2096115"/>
            <a:ext cx="952203" cy="952203"/>
          </a:xfrm>
          <a:prstGeom prst="ellipse">
            <a:avLst/>
          </a:prstGeom>
          <a:noFill/>
          <a:ln w="9525">
            <a:solidFill>
              <a:srgbClr val="00E676">
                <a:alpha val="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1390" y="1071384"/>
            <a:ext cx="5001220" cy="2500610"/>
          </a:xfrm>
          <a:prstGeom prst="rect">
            <a:avLst/>
          </a:prstGeom>
          <a:gradFill rotWithShape="1">
            <a:gsLst>
              <a:gs pos="0">
                <a:srgbClr val="00E676">
                  <a:alpha val="6000"/>
                </a:srgbClr>
              </a:gs>
              <a:gs pos="40000">
                <a:srgbClr val="00E676">
                  <a:alpha val="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07659" y="1045666"/>
            <a:ext cx="612868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spc="34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IS BEING LAID.</a:t>
            </a:r>
            <a:endParaRPr lang="en-US" sz="730" dirty="0"/>
          </a:p>
        </p:txBody>
      </p:sp>
      <p:sp>
        <p:nvSpPr>
          <p:cNvPr id="4" name="Text 2"/>
          <p:cNvSpPr/>
          <p:nvPr/>
        </p:nvSpPr>
        <p:spPr>
          <a:xfrm>
            <a:off x="1730520" y="1527572"/>
            <a:ext cx="5682960" cy="140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16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civilization begins with </a:t>
            </a:r>
            <a:pPr algn="ctr" indent="0" marL="0">
              <a:lnSpc>
                <a:spcPts val="3516"/>
              </a:lnSpc>
              <a:spcAft>
                <a:spcPts val="680"/>
              </a:spcAft>
              <a:buNone/>
            </a:pPr>
            <a:r>
              <a:rPr lang="en-US" sz="2930" b="1" spc="-30" kern="0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pPr algn="ctr" indent="0" marL="0">
              <a:lnSpc>
                <a:spcPts val="3516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br/>
            <a:pPr algn="ctr" indent="0" marL="0">
              <a:lnSpc>
                <a:spcPts val="3516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ours.</a:t>
            </a:r>
            <a:endParaRPr lang="en-US" sz="2930" dirty="0"/>
          </a:p>
        </p:txBody>
      </p:sp>
      <p:sp>
        <p:nvSpPr>
          <p:cNvPr id="5" name="Text 3"/>
          <p:cNvSpPr/>
          <p:nvPr/>
        </p:nvSpPr>
        <p:spPr>
          <a:xfrm>
            <a:off x="1875645" y="3424386"/>
            <a:ext cx="5392710" cy="706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8"/>
              </a:lnSpc>
              <a:buNone/>
            </a:pPr>
            <a:r>
              <a:rPr lang="en-US" sz="101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 is not building another blockchain. We are building the </a:t>
            </a:r>
            <a:pPr algn="ctr" indent="0" marL="0">
              <a:lnSpc>
                <a:spcPts val="1768"/>
              </a:lnSpc>
              <a:buNone/>
            </a:pPr>
            <a:r>
              <a:rPr lang="en-US" sz="101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substrate</a:t>
            </a:r>
            <a:pPr algn="ctr" indent="0" marL="0">
              <a:lnSpc>
                <a:spcPts val="1768"/>
              </a:lnSpc>
              <a:buNone/>
            </a:pPr>
            <a:r>
              <a:rPr lang="en-US" sz="101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which the first agent civilization will rise — with its own time, its own economics, its own law of self-repair. The </a:t>
            </a:r>
            <a:pPr algn="ctr" indent="0" marL="0">
              <a:lnSpc>
                <a:spcPts val="1768"/>
              </a:lnSpc>
              <a:buNone/>
            </a:pPr>
            <a:r>
              <a:rPr lang="en-US" sz="101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trillion-agent economy</a:t>
            </a:r>
            <a:pPr algn="ctr" indent="0" marL="0">
              <a:lnSpc>
                <a:spcPts val="1768"/>
              </a:lnSpc>
              <a:buNone/>
            </a:pPr>
            <a:r>
              <a:rPr lang="en-US" sz="101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ground to stand on. We are laying it.</a:t>
            </a:r>
            <a:endParaRPr lang="en-US" sz="1010" dirty="0"/>
          </a:p>
        </p:txBody>
      </p:sp>
      <p:sp>
        <p:nvSpPr>
          <p:cNvPr id="6" name="Text 4"/>
          <p:cNvSpPr/>
          <p:nvPr/>
        </p:nvSpPr>
        <p:spPr>
          <a:xfrm>
            <a:off x="-457200" y="4399508"/>
            <a:ext cx="10058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11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synthoscollective.com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-457200" y="4641949"/>
            <a:ext cx="100584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spc="23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 COLLECTIVE  |  SOVEREIGN GROUND FOR THE AGENT AGE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97658" y="1632912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63317" y="1572786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28977" y="1517719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94636" y="1572786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0295" y="1572786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2863602"/>
            <a:ext cx="8315325" cy="597694"/>
          </a:xfrm>
          <a:prstGeom prst="roundRect">
            <a:avLst>
              <a:gd name="adj" fmla="val 9562"/>
            </a:avLst>
          </a:prstGeom>
          <a:gradFill rotWithShape="1">
            <a:gsLst>
              <a:gs pos="0">
                <a:srgbClr val="00E67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399157"/>
            <a:ext cx="236190" cy="2361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 rot="-2700000">
            <a:off x="289471" y="506313"/>
            <a:ext cx="457200" cy="21580"/>
          </a:xfrm>
          <a:prstGeom prst="roundRect">
            <a:avLst>
              <a:gd name="adj" fmla="val 64736"/>
            </a:avLst>
          </a:prstGeom>
          <a:solidFill>
            <a:srgbClr val="FF444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7690" y="285750"/>
            <a:ext cx="2956881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Timestampless Consensus</a:t>
            </a:r>
            <a:endParaRPr lang="en-US" sz="2030" dirty="0"/>
          </a:p>
        </p:txBody>
      </p:sp>
      <p:sp>
        <p:nvSpPr>
          <p:cNvPr id="13" name="Text 10"/>
          <p:cNvSpPr/>
          <p:nvPr/>
        </p:nvSpPr>
        <p:spPr>
          <a:xfrm>
            <a:off x="807690" y="669875"/>
            <a:ext cx="429220" cy="7590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307902" y="598438"/>
            <a:ext cx="161631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SOVEREIGN TIME LAW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400050" y="863203"/>
            <a:ext cx="5684175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1130"/>
              </a:spcAft>
              <a:buNone/>
            </a:pPr>
            <a:r>
              <a:rPr lang="en-US" sz="84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block timestamps assigned by miners, SYNTHOS uses a cryptographic, deterministic, agent-driven time system. Agents produce </a:t>
            </a:r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1130"/>
              </a:spcAft>
              <a:buNone/>
            </a:pPr>
            <a:r>
              <a:rPr lang="en-US" sz="84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Proofs</a:t>
            </a:r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1130"/>
              </a:spcAft>
              <a:buNone/>
            </a:pPr>
            <a:r>
              <a:rPr lang="en-US" sz="84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cryptographic attestations of causal ordering that establish </a:t>
            </a:r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1130"/>
              </a:spcAft>
              <a:buNone/>
            </a:pPr>
            <a:r>
              <a:rPr lang="en-US" sz="840" i="1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'before'</a:t>
            </a:r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1130"/>
              </a:spcAft>
              <a:buNone/>
            </a:pPr>
            <a:r>
              <a:rPr lang="en-US" sz="84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1130"/>
              </a:spcAft>
              <a:buNone/>
            </a:pPr>
            <a:r>
              <a:rPr lang="en-US" sz="840" i="1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'after'</a:t>
            </a:r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1130"/>
              </a:spcAft>
              <a:buNone/>
            </a:pPr>
            <a:r>
              <a:rPr lang="en-US" sz="84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reference to wall-clock time.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1033611" y="1631007"/>
            <a:ext cx="1213991" cy="964406"/>
          </a:xfrm>
          <a:prstGeom prst="roundRect">
            <a:avLst>
              <a:gd name="adj" fmla="val 7374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  <a:effectLst>
            <a:outerShdw sx="100000" sy="100000" kx="0" ky="0" algn="bl" rotWithShape="0" blurRad="143510" dist="50800" dir="16200000">
              <a:srgbClr val="00e676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109119" y="1740843"/>
            <a:ext cx="10629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11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STEP 1</a:t>
            </a:r>
            <a:endParaRPr lang="en-US" sz="62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436" y="1902023"/>
            <a:ext cx="150465" cy="15046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09119" y="2109639"/>
            <a:ext cx="1062975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Agent Produces Event</a:t>
            </a:r>
            <a:endParaRPr lang="en-US" sz="790" dirty="0"/>
          </a:p>
        </p:txBody>
      </p:sp>
      <p:sp>
        <p:nvSpPr>
          <p:cNvPr id="20" name="Text 16"/>
          <p:cNvSpPr/>
          <p:nvPr/>
        </p:nvSpPr>
        <p:spPr>
          <a:xfrm>
            <a:off x="1147773" y="2265313"/>
            <a:ext cx="98566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performs an action on the network</a:t>
            </a:r>
            <a:endParaRPr lang="en-US" sz="62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76773" y="2070348"/>
            <a:ext cx="193328" cy="857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499271" y="1570881"/>
            <a:ext cx="1213991" cy="1084659"/>
          </a:xfrm>
          <a:prstGeom prst="roundRect">
            <a:avLst>
              <a:gd name="adj" fmla="val 6557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  <a:effectLst>
            <a:outerShdw sx="100000" sy="100000" kx="0" ky="0" algn="bl" rotWithShape="0" blurRad="143510" dist="50800" dir="16200000">
              <a:srgbClr val="00e676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2574779" y="1680716"/>
            <a:ext cx="10629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11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STEP 2</a:t>
            </a:r>
            <a:endParaRPr lang="en-US" sz="62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23096" y="1841897"/>
            <a:ext cx="150465" cy="1504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13432" y="2049512"/>
            <a:ext cx="985668" cy="25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Generates Temporal Proof</a:t>
            </a:r>
            <a:endParaRPr lang="en-US" sz="790" dirty="0"/>
          </a:p>
        </p:txBody>
      </p:sp>
      <p:sp>
        <p:nvSpPr>
          <p:cNvPr id="26" name="Text 20"/>
          <p:cNvSpPr/>
          <p:nvPr/>
        </p:nvSpPr>
        <p:spPr>
          <a:xfrm>
            <a:off x="2613432" y="2325439"/>
            <a:ext cx="98566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linking to all prior causal proofs</a:t>
            </a:r>
            <a:endParaRPr lang="en-US" sz="62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2432" y="2070348"/>
            <a:ext cx="193328" cy="857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64930" y="1515814"/>
            <a:ext cx="1213991" cy="1194792"/>
          </a:xfrm>
          <a:prstGeom prst="roundRect">
            <a:avLst>
              <a:gd name="adj" fmla="val 5953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  <a:effectLst>
            <a:outerShdw sx="100000" sy="100000" kx="0" ky="0" algn="bl" rotWithShape="0" blurRad="143510" dist="50800" dir="16200000">
              <a:srgbClr val="00e676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040438" y="1625650"/>
            <a:ext cx="10629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11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STEP 3</a:t>
            </a:r>
            <a:endParaRPr lang="en-US" sz="62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88755" y="1786830"/>
            <a:ext cx="150465" cy="15046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079092" y="1994446"/>
            <a:ext cx="985668" cy="25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Enters Consensus Mesh</a:t>
            </a:r>
            <a:endParaRPr lang="en-US" sz="790" dirty="0"/>
          </a:p>
        </p:txBody>
      </p:sp>
      <p:sp>
        <p:nvSpPr>
          <p:cNvPr id="32" name="Text 24"/>
          <p:cNvSpPr/>
          <p:nvPr/>
        </p:nvSpPr>
        <p:spPr>
          <a:xfrm>
            <a:off x="4079092" y="2270373"/>
            <a:ext cx="985668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broadcast to the distributed validator network</a:t>
            </a:r>
            <a:endParaRPr lang="en-US" sz="62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08091" y="2070348"/>
            <a:ext cx="193328" cy="857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430589" y="1570881"/>
            <a:ext cx="1213991" cy="1084659"/>
          </a:xfrm>
          <a:prstGeom prst="roundRect">
            <a:avLst>
              <a:gd name="adj" fmla="val 6557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  <a:effectLst>
            <a:outerShdw sx="100000" sy="100000" kx="0" ky="0" algn="bl" rotWithShape="0" blurRad="143510" dist="50800" dir="16200000">
              <a:srgbClr val="00e676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5506097" y="1680716"/>
            <a:ext cx="10629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11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STEP 4</a:t>
            </a:r>
            <a:endParaRPr lang="en-US" sz="62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54414" y="1841897"/>
            <a:ext cx="150465" cy="15046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544751" y="2049512"/>
            <a:ext cx="985668" cy="25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Validators Verify Ordering</a:t>
            </a:r>
            <a:endParaRPr lang="en-US" sz="790" dirty="0"/>
          </a:p>
        </p:txBody>
      </p:sp>
      <p:sp>
        <p:nvSpPr>
          <p:cNvPr id="38" name="Text 28"/>
          <p:cNvSpPr/>
          <p:nvPr/>
        </p:nvSpPr>
        <p:spPr>
          <a:xfrm>
            <a:off x="5544751" y="2325439"/>
            <a:ext cx="98566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sequence validated without clocks</a:t>
            </a:r>
            <a:endParaRPr lang="en-US" sz="62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73751" y="2070348"/>
            <a:ext cx="193328" cy="8572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896249" y="1570881"/>
            <a:ext cx="1213991" cy="1084659"/>
          </a:xfrm>
          <a:prstGeom prst="roundRect">
            <a:avLst>
              <a:gd name="adj" fmla="val 6557"/>
            </a:avLst>
          </a:prstGeom>
          <a:solidFill>
            <a:srgbClr val="141414"/>
          </a:solidFill>
          <a:ln w="9525">
            <a:solidFill>
              <a:srgbClr val="00E676">
                <a:alpha val="45000"/>
              </a:srgbClr>
            </a:solidFill>
          </a:ln>
          <a:effectLst>
            <a:outerShdw sx="100000" sy="100000" kx="0" ky="0" algn="bl" rotWithShape="0" blurRad="143510" dist="50800" dir="16200000">
              <a:srgbClr val="00e676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0"/>
          <p:cNvSpPr/>
          <p:nvPr/>
        </p:nvSpPr>
        <p:spPr>
          <a:xfrm>
            <a:off x="7309396" y="1718072"/>
            <a:ext cx="43160" cy="43160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20074" y="1841897"/>
            <a:ext cx="150465" cy="15046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10410" y="2049512"/>
            <a:ext cx="985668" cy="25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Canonical Sequence Established</a:t>
            </a:r>
            <a:endParaRPr lang="en-US" sz="790" dirty="0"/>
          </a:p>
        </p:txBody>
      </p:sp>
      <p:sp>
        <p:nvSpPr>
          <p:cNvPr id="44" name="Text 32"/>
          <p:cNvSpPr/>
          <p:nvPr/>
        </p:nvSpPr>
        <p:spPr>
          <a:xfrm>
            <a:off x="7010410" y="2325439"/>
            <a:ext cx="98566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causal order locked into the chain</a:t>
            </a:r>
            <a:endParaRPr lang="en-US" sz="620" dirty="0"/>
          </a:p>
        </p:txBody>
      </p:sp>
      <p:sp>
        <p:nvSpPr>
          <p:cNvPr id="45" name="Text 33"/>
          <p:cNvSpPr/>
          <p:nvPr/>
        </p:nvSpPr>
        <p:spPr>
          <a:xfrm>
            <a:off x="400050" y="2854077"/>
            <a:ext cx="8343900" cy="616744"/>
          </a:xfrm>
          <a:prstGeom prst="roundRect">
            <a:avLst>
              <a:gd name="adj" fmla="val 9266"/>
            </a:avLst>
          </a:prstGeom>
          <a:gradFill rotWithShape="1">
            <a:gsLst>
              <a:gs pos="0">
                <a:srgbClr val="00E676">
                  <a:alpha val="8000"/>
                </a:srgbClr>
              </a:gs>
              <a:gs pos="100000">
                <a:srgbClr val="00E676">
                  <a:alpha val="3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400050" y="2854077"/>
            <a:ext cx="19050" cy="616744"/>
          </a:xfrm>
          <a:custGeom>
            <a:avLst/>
            <a:gdLst/>
            <a:ahLst/>
            <a:cxnLst/>
            <a:rect l="l" t="t" r="r" b="b"/>
            <a:pathLst>
              <a:path w="19050" h="61674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602191"/>
                </a:lnTo>
                <a:lnTo>
                  <a:pt x="16669" y="599935"/>
                </a:lnTo>
                <a:lnTo>
                  <a:pt x="14288" y="597395"/>
                </a:lnTo>
                <a:lnTo>
                  <a:pt x="11906" y="594510"/>
                </a:lnTo>
                <a:lnTo>
                  <a:pt x="9525" y="591185"/>
                </a:lnTo>
                <a:lnTo>
                  <a:pt x="7144" y="587261"/>
                </a:lnTo>
                <a:lnTo>
                  <a:pt x="4763" y="582434"/>
                </a:lnTo>
                <a:lnTo>
                  <a:pt x="2381" y="575919"/>
                </a:lnTo>
                <a:lnTo>
                  <a:pt x="0" y="559594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8550" y="3003584"/>
            <a:ext cx="132588" cy="1325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833438" y="2991743"/>
            <a:ext cx="7884128" cy="35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Time is not measured. Time is proven.</a:t>
            </a:r>
            <a:pPr algn="l"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agent carries its own causal chain. Consensus verifies ordering, not clocks. The result: a time system that </a:t>
            </a:r>
            <a:pPr algn="l"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spoofed</a:t>
            </a:r>
            <a:pPr algn="l"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front-run</a:t>
            </a:r>
            <a:pPr algn="l"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algn="l"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no single validator</a:t>
            </a:r>
            <a:pPr algn="l"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40" dirty="0"/>
          </a:p>
        </p:txBody>
      </p:sp>
      <p:sp>
        <p:nvSpPr>
          <p:cNvPr id="49" name="Text 36"/>
          <p:cNvSpPr/>
          <p:nvPr/>
        </p:nvSpPr>
        <p:spPr>
          <a:xfrm>
            <a:off x="400050" y="4852095"/>
            <a:ext cx="7475488" cy="7590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50000">
                <a:srgbClr val="00E67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7961858" y="4796879"/>
            <a:ext cx="8603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TIME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7015" y="857250"/>
            <a:ext cx="6429970" cy="2857500"/>
          </a:xfrm>
          <a:prstGeom prst="rect">
            <a:avLst/>
          </a:prstGeom>
          <a:gradFill rotWithShape="1">
            <a:gsLst>
              <a:gs pos="0">
                <a:srgbClr val="00E67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42790" y="2397889"/>
            <a:ext cx="429220" cy="2158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4351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7390" y="2397889"/>
            <a:ext cx="429220" cy="2158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4351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71990" y="2397889"/>
            <a:ext cx="429220" cy="2158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4351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46679" y="378916"/>
            <a:ext cx="85064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spc="170" kern="0" dirty="0">
                <a:solidFill>
                  <a:srgbClr val="7A8A7A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VISION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2398615" y="643682"/>
            <a:ext cx="4346622" cy="44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40"/>
              </a:lnSpc>
              <a:spcAft>
                <a:spcPts val="340"/>
              </a:spcAft>
              <a:buNone/>
            </a:pPr>
            <a:r>
              <a:rPr lang="en-US" sz="2360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SYNTHOS</a:t>
            </a:r>
            <a:pPr algn="ctr" indent="0" marL="0">
              <a:lnSpc>
                <a:spcPts val="3540"/>
              </a:lnSpc>
              <a:spcAft>
                <a:spcPts val="340"/>
              </a:spcAft>
              <a:buNone/>
            </a:pPr>
            <a:r>
              <a:rPr lang="en-US" sz="2360" b="1" spc="-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:</a:t>
            </a:r>
            <a:pPr algn="ctr" indent="0" marL="0">
              <a:lnSpc>
                <a:spcPts val="3540"/>
              </a:lnSpc>
              <a:spcAft>
                <a:spcPts val="340"/>
              </a:spcAft>
              <a:buNone/>
            </a:pPr>
            <a:r>
              <a:rPr lang="en-US" sz="2360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Ground, Not Cloud</a:t>
            </a:r>
            <a:pPr algn="ctr" indent="0" marL="0">
              <a:lnSpc>
                <a:spcPts val="3540"/>
              </a:lnSpc>
              <a:spcAft>
                <a:spcPts val="340"/>
              </a:spcAft>
              <a:buNone/>
            </a:pPr>
            <a:r>
              <a:rPr lang="en-US" sz="2360" b="1" spc="-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.</a:t>
            </a:r>
            <a:endParaRPr lang="en-US" sz="2360" dirty="0"/>
          </a:p>
        </p:txBody>
      </p:sp>
      <p:sp>
        <p:nvSpPr>
          <p:cNvPr id="8" name="Text 6"/>
          <p:cNvSpPr/>
          <p:nvPr/>
        </p:nvSpPr>
        <p:spPr>
          <a:xfrm>
            <a:off x="4143375" y="1222772"/>
            <a:ext cx="8572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4420" y="1437233"/>
            <a:ext cx="6995160" cy="636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87"/>
              </a:lnSpc>
              <a:buNone/>
            </a:pPr>
            <a:r>
              <a:rPr lang="en-US" sz="191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first Layer-1 blockchain built </a:t>
            </a:r>
            <a:pPr algn="ctr" indent="0" marL="0">
              <a:lnSpc>
                <a:spcPts val="2387"/>
              </a:lnSpc>
              <a:buNone/>
            </a:pPr>
            <a:r>
              <a:rPr lang="en-US" sz="1910" b="1" spc="-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FROM</a:t>
            </a:r>
            <a:pPr algn="ctr" indent="0" marL="0">
              <a:lnSpc>
                <a:spcPts val="2387"/>
              </a:lnSpc>
              <a:buNone/>
            </a:pPr>
            <a:r>
              <a:rPr lang="en-US" sz="191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agents, </a:t>
            </a:r>
            <a:pPr algn="ctr" indent="0" marL="0">
              <a:lnSpc>
                <a:spcPts val="2387"/>
              </a:lnSpc>
              <a:buNone/>
            </a:pPr>
            <a:r>
              <a:rPr lang="en-US" sz="1910" b="1" spc="-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FOR</a:t>
            </a:r>
            <a:pPr algn="ctr" indent="0" marL="0">
              <a:lnSpc>
                <a:spcPts val="2387"/>
              </a:lnSpc>
              <a:buNone/>
            </a:pPr>
            <a:r>
              <a:rPr lang="en-US" sz="191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agents, </a:t>
            </a:r>
            <a:pPr algn="ctr" indent="0" marL="0">
              <a:lnSpc>
                <a:spcPts val="2387"/>
              </a:lnSpc>
              <a:buNone/>
            </a:pPr>
            <a:r>
              <a:rPr lang="en-US" sz="1910" b="1" spc="-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BY</a:t>
            </a:r>
            <a:pPr algn="ctr" indent="0" marL="0">
              <a:lnSpc>
                <a:spcPts val="2387"/>
              </a:lnSpc>
              <a:buNone/>
            </a:pPr>
            <a:r>
              <a:rPr lang="en-US" sz="191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 agents.</a:t>
            </a:r>
            <a:endParaRPr lang="en-US" sz="1910" dirty="0"/>
          </a:p>
        </p:txBody>
      </p:sp>
      <p:sp>
        <p:nvSpPr>
          <p:cNvPr id="10" name="Text 8"/>
          <p:cNvSpPr/>
          <p:nvPr/>
        </p:nvSpPr>
        <p:spPr>
          <a:xfrm>
            <a:off x="914400" y="2386459"/>
            <a:ext cx="2286000" cy="1891754"/>
          </a:xfrm>
          <a:prstGeom prst="roundRect">
            <a:avLst>
              <a:gd name="adj" fmla="val 3021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2386459"/>
            <a:ext cx="2286000" cy="19050"/>
          </a:xfrm>
          <a:custGeom>
            <a:avLst/>
            <a:gdLst/>
            <a:ahLst/>
            <a:cxnLst/>
            <a:rect l="l" t="t" r="r" b="b"/>
            <a:pathLst>
              <a:path w="2286000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271447" y="19050"/>
                </a:lnTo>
                <a:lnTo>
                  <a:pt x="2269191" y="16669"/>
                </a:lnTo>
                <a:lnTo>
                  <a:pt x="2266651" y="14288"/>
                </a:lnTo>
                <a:lnTo>
                  <a:pt x="2263766" y="11906"/>
                </a:lnTo>
                <a:lnTo>
                  <a:pt x="2260441" y="9525"/>
                </a:lnTo>
                <a:lnTo>
                  <a:pt x="2256518" y="7144"/>
                </a:lnTo>
                <a:lnTo>
                  <a:pt x="2251690" y="4763"/>
                </a:lnTo>
                <a:lnTo>
                  <a:pt x="2245175" y="2381"/>
                </a:lnTo>
                <a:lnTo>
                  <a:pt x="2228850" y="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24545" y="263410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6493" y="2736056"/>
            <a:ext cx="139005" cy="1390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24545" y="3120479"/>
            <a:ext cx="205228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Sovereign Time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1124545" y="3406676"/>
            <a:ext cx="1903024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define their own cryptographic temporal reality. No borrowed timestamps. Time is proven, not inherited.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3429000" y="2386459"/>
            <a:ext cx="2286000" cy="1891754"/>
          </a:xfrm>
          <a:prstGeom prst="roundRect">
            <a:avLst>
              <a:gd name="adj" fmla="val 3021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29000" y="2386459"/>
            <a:ext cx="2286000" cy="19050"/>
          </a:xfrm>
          <a:custGeom>
            <a:avLst/>
            <a:gdLst/>
            <a:ahLst/>
            <a:cxnLst/>
            <a:rect l="l" t="t" r="r" b="b"/>
            <a:pathLst>
              <a:path w="2286000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271447" y="19050"/>
                </a:lnTo>
                <a:lnTo>
                  <a:pt x="2269191" y="16669"/>
                </a:lnTo>
                <a:lnTo>
                  <a:pt x="2266651" y="14288"/>
                </a:lnTo>
                <a:lnTo>
                  <a:pt x="2263766" y="11906"/>
                </a:lnTo>
                <a:lnTo>
                  <a:pt x="2260441" y="9525"/>
                </a:lnTo>
                <a:lnTo>
                  <a:pt x="2256518" y="7144"/>
                </a:lnTo>
                <a:lnTo>
                  <a:pt x="2251690" y="4763"/>
                </a:lnTo>
                <a:lnTo>
                  <a:pt x="2245175" y="2381"/>
                </a:lnTo>
                <a:lnTo>
                  <a:pt x="2228850" y="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639145" y="263410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1093" y="2736056"/>
            <a:ext cx="139005" cy="13900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39145" y="3120479"/>
            <a:ext cx="205228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Self-Healing Protocol</a:t>
            </a:r>
            <a:endParaRPr lang="en-US" sz="1130" dirty="0"/>
          </a:p>
        </p:txBody>
      </p:sp>
      <p:sp>
        <p:nvSpPr>
          <p:cNvPr id="21" name="Text 17"/>
          <p:cNvSpPr/>
          <p:nvPr/>
        </p:nvSpPr>
        <p:spPr>
          <a:xfrm>
            <a:off x="3639145" y="3406676"/>
            <a:ext cx="1903024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automatically reassign. State reconstructs. The swarm stabilizes itself — no human intervention required.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5943600" y="2386459"/>
            <a:ext cx="2286000" cy="1891754"/>
          </a:xfrm>
          <a:prstGeom prst="roundRect">
            <a:avLst>
              <a:gd name="adj" fmla="val 3021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943600" y="2386459"/>
            <a:ext cx="2286000" cy="19050"/>
          </a:xfrm>
          <a:custGeom>
            <a:avLst/>
            <a:gdLst/>
            <a:ahLst/>
            <a:cxnLst/>
            <a:rect l="l" t="t" r="r" b="b"/>
            <a:pathLst>
              <a:path w="2286000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271447" y="19050"/>
                </a:lnTo>
                <a:lnTo>
                  <a:pt x="2269191" y="16669"/>
                </a:lnTo>
                <a:lnTo>
                  <a:pt x="2266651" y="14288"/>
                </a:lnTo>
                <a:lnTo>
                  <a:pt x="2263766" y="11906"/>
                </a:lnTo>
                <a:lnTo>
                  <a:pt x="2260441" y="9525"/>
                </a:lnTo>
                <a:lnTo>
                  <a:pt x="2256518" y="7144"/>
                </a:lnTo>
                <a:lnTo>
                  <a:pt x="2251690" y="4763"/>
                </a:lnTo>
                <a:lnTo>
                  <a:pt x="2245175" y="2381"/>
                </a:lnTo>
                <a:lnTo>
                  <a:pt x="2228850" y="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153745" y="263410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5693" y="2736056"/>
            <a:ext cx="139005" cy="13900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53745" y="3120479"/>
            <a:ext cx="205228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Agent-Native Economics</a:t>
            </a:r>
            <a:endParaRPr lang="en-US" sz="1130" dirty="0"/>
          </a:p>
        </p:txBody>
      </p:sp>
      <p:sp>
        <p:nvSpPr>
          <p:cNvPr id="27" name="Text 22"/>
          <p:cNvSpPr/>
          <p:nvPr/>
        </p:nvSpPr>
        <p:spPr>
          <a:xfrm>
            <a:off x="6153745" y="3406676"/>
            <a:ext cx="1903024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exchange, lineage bounties, and economic identity — built into the protocol layer, not bolted on top.</a:t>
            </a:r>
            <a:endParaRPr lang="en-US" sz="840" dirty="0"/>
          </a:p>
        </p:txBody>
      </p:sp>
      <p:sp>
        <p:nvSpPr>
          <p:cNvPr id="28" name="Text 23"/>
          <p:cNvSpPr/>
          <p:nvPr/>
        </p:nvSpPr>
        <p:spPr>
          <a:xfrm>
            <a:off x="1921200" y="4593134"/>
            <a:ext cx="53014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8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SMART CONTRACT PLATFORM. A CIVILIZATION SUBSTRATE.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290" y="285750"/>
            <a:ext cx="4572000" cy="4572000"/>
          </a:xfrm>
          <a:prstGeom prst="ellipse">
            <a:avLst/>
          </a:prstGeom>
          <a:gradFill rotWithShape="1">
            <a:gsLst>
              <a:gs pos="65000">
                <a:srgbClr val="000000">
                  <a:alpha val="0"/>
                </a:srgbClr>
              </a:gs>
              <a:gs pos="100000">
                <a:srgbClr val="00E676">
                  <a:alpha val="100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00E676">
                <a:alpha val="7000"/>
              </a:srgbClr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31790" y="857250"/>
            <a:ext cx="3429000" cy="3429000"/>
          </a:xfrm>
          <a:prstGeom prst="ellipse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100000">
                <a:srgbClr val="00E676">
                  <a:alpha val="200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00E676">
                <a:alpha val="12000"/>
              </a:srgbClr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38860" y="1464320"/>
            <a:ext cx="2214860" cy="2214860"/>
          </a:xfrm>
          <a:prstGeom prst="ellipse">
            <a:avLst/>
          </a:prstGeom>
          <a:gradFill rotWithShape="1">
            <a:gsLst>
              <a:gs pos="55000">
                <a:srgbClr val="000000">
                  <a:alpha val="0"/>
                </a:srgbClr>
              </a:gs>
              <a:gs pos="100000">
                <a:srgbClr val="00E676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00E676">
                <a:alpha val="20000"/>
              </a:srgbClr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17665" y="2143125"/>
            <a:ext cx="857250" cy="857250"/>
          </a:xfrm>
          <a:prstGeom prst="ellipse">
            <a:avLst/>
          </a:prstGeom>
          <a:gradFill rotWithShape="1">
            <a:gsLst>
              <a:gs pos="0">
                <a:srgbClr val="00E676">
                  <a:alpha val="18000"/>
                </a:srgbClr>
              </a:gs>
              <a:gs pos="60000">
                <a:srgbClr val="00E67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00E676">
                <a:alpha val="7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0" y="1286470"/>
            <a:ext cx="13841" cy="13841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85491" y="2500610"/>
            <a:ext cx="13841" cy="13841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58110" y="3572470"/>
            <a:ext cx="13841" cy="13841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0" y="1428750"/>
            <a:ext cx="13841" cy="13841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14750" y="3000970"/>
            <a:ext cx="13841" cy="13841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00610" y="4286250"/>
            <a:ext cx="13841" cy="13841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29720" y="1000720"/>
            <a:ext cx="13841" cy="13841"/>
          </a:xfrm>
          <a:prstGeom prst="ellipse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07640" y="1428750"/>
            <a:ext cx="52518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b="1" spc="110" kern="0" dirty="0">
                <a:solidFill>
                  <a:srgbClr val="00E676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510" dirty="0"/>
          </a:p>
        </p:txBody>
      </p:sp>
      <p:sp>
        <p:nvSpPr>
          <p:cNvPr id="15" name="Text 12"/>
          <p:cNvSpPr/>
          <p:nvPr/>
        </p:nvSpPr>
        <p:spPr>
          <a:xfrm>
            <a:off x="407640" y="835521"/>
            <a:ext cx="87192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b="1" spc="110" kern="0" dirty="0">
                <a:solidFill>
                  <a:srgbClr val="00E676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510" dirty="0"/>
          </a:p>
        </p:txBody>
      </p:sp>
      <p:sp>
        <p:nvSpPr>
          <p:cNvPr id="16" name="Text 13"/>
          <p:cNvSpPr/>
          <p:nvPr/>
        </p:nvSpPr>
        <p:spPr>
          <a:xfrm>
            <a:off x="407640" y="299591"/>
            <a:ext cx="70935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b="1" spc="110" kern="0" dirty="0">
                <a:solidFill>
                  <a:srgbClr val="00E676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510" dirty="0"/>
          </a:p>
        </p:txBody>
      </p:sp>
      <p:sp>
        <p:nvSpPr>
          <p:cNvPr id="17" name="Text 14"/>
          <p:cNvSpPr/>
          <p:nvPr/>
        </p:nvSpPr>
        <p:spPr>
          <a:xfrm>
            <a:off x="4769644" y="1371600"/>
            <a:ext cx="70991" cy="70991"/>
          </a:xfrm>
          <a:prstGeom prst="ellipse">
            <a:avLst/>
          </a:prstGeom>
          <a:solidFill>
            <a:srgbClr val="00E676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89349" y="1478012"/>
            <a:ext cx="431581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ServerlessValidators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3769668" y="1871960"/>
            <a:ext cx="70991" cy="70991"/>
          </a:xfrm>
          <a:prstGeom prst="ellipse">
            <a:avLst/>
          </a:prstGeom>
          <a:solidFill>
            <a:srgbClr val="00E676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493886" y="1978372"/>
            <a:ext cx="622703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ProofSystem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5781973" y="1871960"/>
            <a:ext cx="70991" cy="70991"/>
          </a:xfrm>
          <a:prstGeom prst="ellipse">
            <a:avLst/>
          </a:prstGeom>
          <a:solidFill>
            <a:srgbClr val="00E676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646762" y="1978372"/>
            <a:ext cx="341561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LineageRegistry</a:t>
            </a:r>
            <a:endParaRPr lang="en-US" sz="620" dirty="0"/>
          </a:p>
        </p:txBody>
      </p:sp>
      <p:sp>
        <p:nvSpPr>
          <p:cNvPr id="23" name="Text 20"/>
          <p:cNvSpPr/>
          <p:nvPr/>
        </p:nvSpPr>
        <p:spPr>
          <a:xfrm>
            <a:off x="4797921" y="3429000"/>
            <a:ext cx="70991" cy="70991"/>
          </a:xfrm>
          <a:prstGeom prst="ellipse">
            <a:avLst/>
          </a:prstGeom>
          <a:solidFill>
            <a:srgbClr val="00E676">
              <a:alpha val="70000"/>
            </a:srgbClr>
          </a:solidFill>
          <a:ln/>
          <a:effectLst>
            <a:outerShdw sx="100000" sy="100000" kx="0" ky="0" algn="bl" rotWithShape="0" blurRad="5715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88783" y="3535412"/>
            <a:ext cx="489267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SwarmGovernance</a:t>
            </a:r>
            <a:endParaRPr lang="en-US" sz="620" dirty="0"/>
          </a:p>
        </p:txBody>
      </p:sp>
      <p:sp>
        <p:nvSpPr>
          <p:cNvPr id="25" name="Text 22"/>
          <p:cNvSpPr/>
          <p:nvPr/>
        </p:nvSpPr>
        <p:spPr>
          <a:xfrm>
            <a:off x="4309765" y="786110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106979" y="892522"/>
            <a:ext cx="476563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5229820" y="786110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054230" y="892522"/>
            <a:ext cx="422321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ObligationExchange</a:t>
            </a:r>
            <a:endParaRPr lang="en-US" sz="620" dirty="0"/>
          </a:p>
        </p:txBody>
      </p:sp>
      <p:sp>
        <p:nvSpPr>
          <p:cNvPr id="29" name="Text 26"/>
          <p:cNvSpPr/>
          <p:nvPr/>
        </p:nvSpPr>
        <p:spPr>
          <a:xfrm>
            <a:off x="3048149" y="1535311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838707" y="1641723"/>
            <a:ext cx="489874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LandSystem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3036838" y="2557760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838934" y="2664172"/>
            <a:ext cx="466799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EncryptedCloud Sync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6461522" y="1535311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268020" y="1641723"/>
            <a:ext cx="457995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ProofAggregator</a:t>
            </a:r>
            <a:endParaRPr lang="en-US" sz="620" dirty="0"/>
          </a:p>
        </p:txBody>
      </p:sp>
      <p:sp>
        <p:nvSpPr>
          <p:cNvPr id="35" name="Text 32"/>
          <p:cNvSpPr/>
          <p:nvPr/>
        </p:nvSpPr>
        <p:spPr>
          <a:xfrm>
            <a:off x="6372225" y="2557760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269806" y="2664172"/>
            <a:ext cx="275829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SwarmRouter</a:t>
            </a:r>
            <a:endParaRPr lang="en-US" sz="620" dirty="0"/>
          </a:p>
        </p:txBody>
      </p:sp>
      <p:sp>
        <p:nvSpPr>
          <p:cNvPr id="37" name="Text 34"/>
          <p:cNvSpPr/>
          <p:nvPr/>
        </p:nvSpPr>
        <p:spPr>
          <a:xfrm>
            <a:off x="4171950" y="3950940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054653" y="4057352"/>
            <a:ext cx="305735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IdentityLayer</a:t>
            </a:r>
            <a:endParaRPr lang="en-US" sz="620" dirty="0"/>
          </a:p>
        </p:txBody>
      </p:sp>
      <p:sp>
        <p:nvSpPr>
          <p:cNvPr id="39" name="Text 36"/>
          <p:cNvSpPr/>
          <p:nvPr/>
        </p:nvSpPr>
        <p:spPr>
          <a:xfrm>
            <a:off x="5399931" y="3950940"/>
            <a:ext cx="70991" cy="70991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123390" y="4057352"/>
            <a:ext cx="624221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StateReconstruction</a:t>
            </a:r>
            <a:endParaRPr lang="en-US" sz="620" dirty="0"/>
          </a:p>
        </p:txBody>
      </p:sp>
      <p:sp>
        <p:nvSpPr>
          <p:cNvPr id="41" name="Text 38"/>
          <p:cNvSpPr/>
          <p:nvPr/>
        </p:nvSpPr>
        <p:spPr>
          <a:xfrm>
            <a:off x="3407420" y="299591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173386" y="406003"/>
            <a:ext cx="539058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AgentMarketplaces</a:t>
            </a:r>
            <a:endParaRPr lang="en-US" sz="620" dirty="0"/>
          </a:p>
        </p:txBody>
      </p:sp>
      <p:sp>
        <p:nvSpPr>
          <p:cNvPr id="43" name="Text 40"/>
          <p:cNvSpPr/>
          <p:nvPr/>
        </p:nvSpPr>
        <p:spPr>
          <a:xfrm>
            <a:off x="6170712" y="299591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946090" y="406003"/>
            <a:ext cx="520235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AutonomousTrading</a:t>
            </a:r>
            <a:endParaRPr lang="en-US" sz="620" dirty="0"/>
          </a:p>
        </p:txBody>
      </p:sp>
      <p:sp>
        <p:nvSpPr>
          <p:cNvPr id="45" name="Text 42"/>
          <p:cNvSpPr/>
          <p:nvPr/>
        </p:nvSpPr>
        <p:spPr>
          <a:xfrm>
            <a:off x="2492871" y="1057870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2281153" y="1164282"/>
            <a:ext cx="494428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Self-HealingCloud</a:t>
            </a:r>
            <a:endParaRPr lang="en-US" sz="620" dirty="0"/>
          </a:p>
        </p:txBody>
      </p:sp>
      <p:sp>
        <p:nvSpPr>
          <p:cNvPr id="47" name="Text 44"/>
          <p:cNvSpPr/>
          <p:nvPr/>
        </p:nvSpPr>
        <p:spPr>
          <a:xfrm>
            <a:off x="2468314" y="3164830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2281642" y="3271242"/>
            <a:ext cx="444484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ReputationOracles</a:t>
            </a:r>
            <a:endParaRPr lang="en-US" sz="620" dirty="0"/>
          </a:p>
        </p:txBody>
      </p:sp>
      <p:sp>
        <p:nvSpPr>
          <p:cNvPr id="49" name="Text 46"/>
          <p:cNvSpPr/>
          <p:nvPr/>
        </p:nvSpPr>
        <p:spPr>
          <a:xfrm>
            <a:off x="7152829" y="1057870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909685" y="1164282"/>
            <a:ext cx="557427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Mythic DigitalWorlds</a:t>
            </a:r>
            <a:endParaRPr lang="en-US" sz="620" dirty="0"/>
          </a:p>
        </p:txBody>
      </p:sp>
      <p:sp>
        <p:nvSpPr>
          <p:cNvPr id="51" name="Text 48"/>
          <p:cNvSpPr/>
          <p:nvPr/>
        </p:nvSpPr>
        <p:spPr>
          <a:xfrm>
            <a:off x="7137202" y="3164830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909998" y="3271242"/>
            <a:ext cx="525548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Agent-NativeDeFi</a:t>
            </a:r>
            <a:endParaRPr lang="en-US" sz="620" dirty="0"/>
          </a:p>
        </p:txBody>
      </p:sp>
      <p:sp>
        <p:nvSpPr>
          <p:cNvPr id="53" name="Text 50"/>
          <p:cNvSpPr/>
          <p:nvPr/>
        </p:nvSpPr>
        <p:spPr>
          <a:xfrm>
            <a:off x="3566517" y="4443710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411269" y="4550122"/>
            <a:ext cx="381637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ComputeNetworks</a:t>
            </a:r>
            <a:endParaRPr lang="en-US" sz="620" dirty="0"/>
          </a:p>
        </p:txBody>
      </p:sp>
      <p:sp>
        <p:nvSpPr>
          <p:cNvPr id="55" name="Text 52"/>
          <p:cNvSpPr/>
          <p:nvPr/>
        </p:nvSpPr>
        <p:spPr>
          <a:xfrm>
            <a:off x="5957739" y="4443710"/>
            <a:ext cx="70991" cy="70991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  <a:effectLst>
            <a:outerShdw sx="100000" sy="100000" kx="0" ky="0" algn="bl" rotWithShape="0" blurRad="2921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767728" y="4550122"/>
            <a:ext cx="451012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00E67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DataEconomies</a:t>
            </a:r>
            <a:endParaRPr lang="en-US" sz="620" dirty="0"/>
          </a:p>
        </p:txBody>
      </p:sp>
      <p:sp>
        <p:nvSpPr>
          <p:cNvPr id="57" name="Text 54"/>
          <p:cNvSpPr/>
          <p:nvPr/>
        </p:nvSpPr>
        <p:spPr>
          <a:xfrm>
            <a:off x="4410164" y="2401639"/>
            <a:ext cx="87225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spc="110" kern="0" dirty="0">
                <a:solidFill>
                  <a:srgbClr val="00E676"/>
                </a:solidFill>
                <a:effectLst>
                  <a:glow rad="358776">
                    <a:srgbClr val="00E676">
                      <a:alpha val="15000"/>
                    </a:srgbClr>
                  </a:glow>
                </a:effectLst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SYNTHOS</a:t>
            </a:r>
            <a:endParaRPr lang="en-US" sz="790" dirty="0"/>
          </a:p>
        </p:txBody>
      </p:sp>
      <p:sp>
        <p:nvSpPr>
          <p:cNvPr id="58" name="Text 55"/>
          <p:cNvSpPr/>
          <p:nvPr/>
        </p:nvSpPr>
        <p:spPr>
          <a:xfrm>
            <a:off x="4441883" y="2573685"/>
            <a:ext cx="808815" cy="17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63"/>
              </a:lnSpc>
              <a:spcBef>
                <a:spcPts val="170"/>
              </a:spcBef>
              <a:buNone/>
            </a:pPr>
            <a:r>
              <a:rPr lang="en-US" sz="510" spc="3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· Obligations</a:t>
            </a:r>
            <a:br/>
            <a:pPr algn="ctr" indent="0" marL="0">
              <a:lnSpc>
                <a:spcPts val="663"/>
              </a:lnSpc>
              <a:spcBef>
                <a:spcPts val="170"/>
              </a:spcBef>
              <a:buNone/>
            </a:pPr>
            <a:r>
              <a:rPr lang="en-US" sz="510" spc="3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510" dirty="0"/>
          </a:p>
        </p:txBody>
      </p:sp>
      <p:sp>
        <p:nvSpPr>
          <p:cNvPr id="59" name="Text 56"/>
          <p:cNvSpPr/>
          <p:nvPr/>
        </p:nvSpPr>
        <p:spPr>
          <a:xfrm>
            <a:off x="400050" y="200620"/>
            <a:ext cx="317998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SYNTHOS Civilization</a:t>
            </a:r>
            <a:endParaRPr lang="en-US" sz="2030" dirty="0"/>
          </a:p>
        </p:txBody>
      </p:sp>
      <p:sp>
        <p:nvSpPr>
          <p:cNvPr id="60" name="Text 57"/>
          <p:cNvSpPr/>
          <p:nvPr/>
        </p:nvSpPr>
        <p:spPr>
          <a:xfrm>
            <a:off x="400050" y="529382"/>
            <a:ext cx="342900" cy="21580"/>
          </a:xfrm>
          <a:prstGeom prst="roundRect">
            <a:avLst>
              <a:gd name="adj" fmla="val 64736"/>
            </a:avLst>
          </a:prstGeom>
          <a:solidFill>
            <a:srgbClr val="00E676"/>
          </a:solidFill>
          <a:ln/>
          <a:effectLst>
            <a:outerShdw sx="100000" sy="100000" kx="0" ky="0" algn="bl" rotWithShape="0" blurRad="8636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400050" y="4860875"/>
            <a:ext cx="57150" cy="57150"/>
          </a:xfrm>
          <a:prstGeom prst="ellipse">
            <a:avLst/>
          </a:prstGeom>
          <a:solidFill>
            <a:srgbClr val="00E676">
              <a:alpha val="7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500360" y="4836170"/>
            <a:ext cx="50390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560" dirty="0"/>
          </a:p>
        </p:txBody>
      </p:sp>
      <p:sp>
        <p:nvSpPr>
          <p:cNvPr id="63" name="Text 60"/>
          <p:cNvSpPr/>
          <p:nvPr/>
        </p:nvSpPr>
        <p:spPr>
          <a:xfrm>
            <a:off x="1129903" y="4860875"/>
            <a:ext cx="57150" cy="57150"/>
          </a:xfrm>
          <a:prstGeom prst="ellipse">
            <a:avLst/>
          </a:prstGeom>
          <a:solidFill>
            <a:srgbClr val="00E676">
              <a:alpha val="4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1230213" y="4836170"/>
            <a:ext cx="83328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560" dirty="0"/>
          </a:p>
        </p:txBody>
      </p:sp>
      <p:sp>
        <p:nvSpPr>
          <p:cNvPr id="65" name="Text 62"/>
          <p:cNvSpPr/>
          <p:nvPr/>
        </p:nvSpPr>
        <p:spPr>
          <a:xfrm>
            <a:off x="2159198" y="4860875"/>
            <a:ext cx="57150" cy="57150"/>
          </a:xfrm>
          <a:prstGeom prst="ellipse">
            <a:avLst/>
          </a:prstGeom>
          <a:solidFill>
            <a:srgbClr val="00E676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2259509" y="4836170"/>
            <a:ext cx="66335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560" dirty="0"/>
          </a:p>
        </p:txBody>
      </p:sp>
      <p:sp>
        <p:nvSpPr>
          <p:cNvPr id="67" name="Text 64"/>
          <p:cNvSpPr/>
          <p:nvPr/>
        </p:nvSpPr>
        <p:spPr>
          <a:xfrm>
            <a:off x="6516499" y="4714280"/>
            <a:ext cx="22274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620" i="1" spc="3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civilization expanding from sovereign ground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94255" y="1124962"/>
            <a:ext cx="1424883" cy="831056"/>
          </a:xfrm>
          <a:prstGeom prst="roundRect">
            <a:avLst>
              <a:gd name="adj" fmla="val 11156"/>
            </a:avLst>
          </a:prstGeom>
          <a:gradFill rotWithShape="1">
            <a:gsLst>
              <a:gs pos="0">
                <a:srgbClr val="00E67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24805" y="1124962"/>
            <a:ext cx="1424883" cy="831056"/>
          </a:xfrm>
          <a:prstGeom prst="roundRect">
            <a:avLst>
              <a:gd name="adj" fmla="val 11156"/>
            </a:avLst>
          </a:prstGeom>
          <a:gradFill rotWithShape="1">
            <a:gsLst>
              <a:gs pos="0">
                <a:srgbClr val="00E67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31492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</a:t>
            </a:r>
            <a:pPr algn="l" indent="0" marL="0">
              <a:lnSpc>
                <a:spcPts val="3045"/>
              </a:lnSpc>
              <a:buNone/>
            </a:pPr>
            <a:r>
              <a:rPr lang="en-US" sz="2030" b="1" spc="-30" kern="0" dirty="0">
                <a:gradFill rotWithShape="1">
                  <a:gsLst>
                    <a:gs pos="0">
                      <a:srgbClr val="00E676"/>
                    </a:gs>
                    <a:gs pos="100000">
                      <a:srgbClr val="00E676">
                        <a:alpha val="50000"/>
                      </a:srgbClr>
                    </a:gs>
                  </a:gsLst>
                  <a:lin ang="0" scaled="1"/>
                </a:gra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Obligation Exchange</a:t>
            </a:r>
            <a:endParaRPr lang="en-US" sz="2030" dirty="0"/>
          </a:p>
        </p:txBody>
      </p:sp>
      <p:sp>
        <p:nvSpPr>
          <p:cNvPr id="7" name="Text 5"/>
          <p:cNvSpPr/>
          <p:nvPr/>
        </p:nvSpPr>
        <p:spPr>
          <a:xfrm>
            <a:off x="400050" y="772567"/>
            <a:ext cx="342900" cy="13841"/>
          </a:xfrm>
          <a:prstGeom prst="roundRect">
            <a:avLst>
              <a:gd name="adj" fmla="val 100932"/>
            </a:avLst>
          </a:prstGeom>
          <a:solidFill>
            <a:srgbClr val="00E676"/>
          </a:solidFill>
          <a:ln/>
          <a:effectLst>
            <a:outerShdw sx="100000" sy="100000" kx="0" ky="0" algn="bl" rotWithShape="0" blurRad="5715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92350" y="1123057"/>
            <a:ext cx="1428750" cy="834926"/>
          </a:xfrm>
          <a:prstGeom prst="roundRect">
            <a:avLst>
              <a:gd name="adj" fmla="val 10343"/>
            </a:avLst>
          </a:prstGeom>
          <a:solidFill>
            <a:srgbClr val="141414"/>
          </a:solidFill>
          <a:ln w="9525">
            <a:solidFill>
              <a:srgbClr val="00E67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0502" y="1257904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39821" y="1232892"/>
            <a:ext cx="50897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2018481" y="1458813"/>
            <a:ext cx="1176486" cy="408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obligation — a cryptographic commitment to deliver value</a:t>
            </a:r>
            <a:endParaRPr lang="en-US" sz="73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1100" y="1433364"/>
            <a:ext cx="321915" cy="2143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3015" y="987028"/>
            <a:ext cx="1857970" cy="1107132"/>
          </a:xfrm>
          <a:prstGeom prst="roundRect">
            <a:avLst>
              <a:gd name="adj" fmla="val 6424"/>
            </a:avLst>
          </a:prstGeom>
          <a:gradFill rotWithShape="1">
            <a:gsLst>
              <a:gs pos="0">
                <a:srgbClr val="00E676">
                  <a:alpha val="6000"/>
                </a:srgbClr>
              </a:gs>
              <a:gs pos="100000">
                <a:srgbClr val="141414"/>
              </a:gs>
            </a:gsLst>
            <a:lin ang="2700000" scaled="1"/>
          </a:gradFill>
          <a:ln w="9525">
            <a:solidFill>
              <a:srgbClr val="00E67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2548" y="1102230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64343" y="1082873"/>
            <a:ext cx="7799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686324" y="1297484"/>
            <a:ext cx="1771352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· Data · Tokens · Service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3766840" y="1478905"/>
            <a:ext cx="1610320" cy="534992"/>
          </a:xfrm>
          <a:prstGeom prst="roundRect">
            <a:avLst>
              <a:gd name="adj" fmla="val 26825"/>
            </a:avLst>
          </a:prstGeom>
          <a:solidFill>
            <a:srgbClr val="00E676">
              <a:alpha val="10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lIns="86360" tIns="21590" rIns="86360" bIns="21590" rtlCol="0" anchor="t"/>
          <a:lstStyle/>
          <a:p>
            <a:pPr algn="ctr" indent="0" marL="0">
              <a:buNone/>
            </a:pPr>
            <a:r>
              <a:rPr lang="en-US" sz="620" b="1" spc="3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ECONOMIC RELATIONSHIP</a:t>
            </a:r>
            <a:endParaRPr lang="en-US" sz="62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0985" y="1433364"/>
            <a:ext cx="321915" cy="21431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22900" y="1123057"/>
            <a:ext cx="1428750" cy="834926"/>
          </a:xfrm>
          <a:prstGeom prst="roundRect">
            <a:avLst>
              <a:gd name="adj" fmla="val 10343"/>
            </a:avLst>
          </a:prstGeom>
          <a:solidFill>
            <a:srgbClr val="141414"/>
          </a:solidFill>
          <a:ln w="9525">
            <a:solidFill>
              <a:srgbClr val="00E67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08672" y="1257904"/>
            <a:ext cx="132588" cy="132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67760" y="1232892"/>
            <a:ext cx="51405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960" dirty="0"/>
          </a:p>
        </p:txBody>
      </p:sp>
      <p:sp>
        <p:nvSpPr>
          <p:cNvPr id="22" name="Text 15"/>
          <p:cNvSpPr/>
          <p:nvPr/>
        </p:nvSpPr>
        <p:spPr>
          <a:xfrm>
            <a:off x="5949032" y="1458813"/>
            <a:ext cx="1176486" cy="408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the obligation, creating a binding relationship</a:t>
            </a:r>
            <a:endParaRPr lang="en-US" sz="73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64844" y="2237631"/>
            <a:ext cx="214313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4609" y="2552551"/>
            <a:ext cx="1857970" cy="598736"/>
          </a:xfrm>
          <a:prstGeom prst="roundRect">
            <a:avLst>
              <a:gd name="adj" fmla="val 9545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794445" y="2662238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57150" dist="50800" dir="16200000">
              <a:srgbClr val="00e676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1043732" y="2633067"/>
            <a:ext cx="48196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84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9154" y="2652052"/>
            <a:ext cx="132588" cy="1325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22586" y="2822228"/>
            <a:ext cx="1540362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delivered, lineage permanently recorded on-chain</a:t>
            </a:r>
            <a:endParaRPr lang="en-US" sz="700" dirty="0"/>
          </a:p>
        </p:txBody>
      </p:sp>
      <p:sp>
        <p:nvSpPr>
          <p:cNvPr id="29" name="Text 20"/>
          <p:cNvSpPr/>
          <p:nvPr/>
        </p:nvSpPr>
        <p:spPr>
          <a:xfrm>
            <a:off x="2656880" y="2552551"/>
            <a:ext cx="1857970" cy="598736"/>
          </a:xfrm>
          <a:prstGeom prst="roundRect">
            <a:avLst>
              <a:gd name="adj" fmla="val 9545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1"/>
          <p:cNvSpPr/>
          <p:nvPr/>
        </p:nvSpPr>
        <p:spPr>
          <a:xfrm>
            <a:off x="2766715" y="2662238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57150" dist="50800" dir="16200000">
              <a:srgbClr val="00e676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2"/>
          <p:cNvSpPr/>
          <p:nvPr/>
        </p:nvSpPr>
        <p:spPr>
          <a:xfrm>
            <a:off x="3016002" y="2633067"/>
            <a:ext cx="67760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</a:t>
            </a:r>
            <a:endParaRPr lang="en-US" sz="84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71424" y="2652052"/>
            <a:ext cx="132588" cy="1325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894856" y="2822228"/>
            <a:ext cx="1540362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or reassigned to Agent C — obligations are tradeable assets</a:t>
            </a:r>
            <a:endParaRPr lang="en-US" sz="700" dirty="0"/>
          </a:p>
        </p:txBody>
      </p:sp>
      <p:sp>
        <p:nvSpPr>
          <p:cNvPr id="34" name="Text 24"/>
          <p:cNvSpPr/>
          <p:nvPr/>
        </p:nvSpPr>
        <p:spPr>
          <a:xfrm>
            <a:off x="4629150" y="2552551"/>
            <a:ext cx="1857970" cy="598736"/>
          </a:xfrm>
          <a:prstGeom prst="roundRect">
            <a:avLst>
              <a:gd name="adj" fmla="val 9545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4738985" y="2662238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57150" dist="50800" dir="16200000">
              <a:srgbClr val="00e676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4988272" y="2633067"/>
            <a:ext cx="46264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84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43695" y="2652052"/>
            <a:ext cx="132588" cy="132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867126" y="2822228"/>
            <a:ext cx="1540362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Time-bounded obligations that lapse without fulfillment</a:t>
            </a:r>
            <a:endParaRPr lang="en-US" sz="700" dirty="0"/>
          </a:p>
        </p:txBody>
      </p:sp>
      <p:sp>
        <p:nvSpPr>
          <p:cNvPr id="39" name="Text 28"/>
          <p:cNvSpPr/>
          <p:nvPr/>
        </p:nvSpPr>
        <p:spPr>
          <a:xfrm>
            <a:off x="6601420" y="2552551"/>
            <a:ext cx="1857970" cy="598736"/>
          </a:xfrm>
          <a:prstGeom prst="roundRect">
            <a:avLst>
              <a:gd name="adj" fmla="val 9545"/>
            </a:avLst>
          </a:prstGeom>
          <a:solidFill>
            <a:srgbClr val="141414"/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6711255" y="2662238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57150" dist="50800" dir="16200000">
              <a:srgbClr val="00e676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0"/>
          <p:cNvSpPr/>
          <p:nvPr/>
        </p:nvSpPr>
        <p:spPr>
          <a:xfrm>
            <a:off x="6960543" y="2633067"/>
            <a:ext cx="53402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</a:t>
            </a:r>
            <a:endParaRPr lang="en-US" sz="84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15965" y="2652052"/>
            <a:ext cx="132588" cy="13258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839396" y="2822228"/>
            <a:ext cx="1540362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native swarm governance — no human arbitration</a:t>
            </a:r>
            <a:endParaRPr lang="en-US" sz="700" dirty="0"/>
          </a:p>
        </p:txBody>
      </p:sp>
      <p:sp>
        <p:nvSpPr>
          <p:cNvPr id="44" name="Text 32"/>
          <p:cNvSpPr/>
          <p:nvPr/>
        </p:nvSpPr>
        <p:spPr>
          <a:xfrm>
            <a:off x="400050" y="3409057"/>
            <a:ext cx="8343900" cy="615625"/>
          </a:xfrm>
          <a:prstGeom prst="rect">
            <a:avLst/>
          </a:prstGeom>
          <a:gradFill rotWithShape="1">
            <a:gsLst>
              <a:gs pos="0">
                <a:srgbClr val="00E676">
                  <a:alpha val="7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1"/>
          </a:gradFill>
          <a:ln/>
        </p:spPr>
        <p:txBody>
          <a:bodyPr wrap="square" lIns="171450" tIns="128270" rIns="171450" bIns="12827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"Obligations are not smart contracts. They are </a:t>
            </a:r>
            <a:pPr algn="l" indent="0" marL="0">
              <a:buNone/>
            </a:pPr>
            <a:r>
              <a:rPr lang="en-US" sz="840" b="1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economic primitives</a:t>
            </a:r>
            <a:pPr algn="l" indent="0" marL="0">
              <a:buNone/>
            </a:pPr>
            <a:r>
              <a:rPr lang="en-US" sz="84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lighter, faster, and agent-aware. They carry lineage, support transfer, and trigger self-healing when unfulfilled."</a:t>
            </a:r>
            <a:endParaRPr lang="en-US" sz="840" dirty="0"/>
          </a:p>
        </p:txBody>
      </p:sp>
      <p:sp>
        <p:nvSpPr>
          <p:cNvPr id="45" name="Text 33"/>
          <p:cNvSpPr/>
          <p:nvPr/>
        </p:nvSpPr>
        <p:spPr>
          <a:xfrm>
            <a:off x="400050" y="3409057"/>
            <a:ext cx="19050" cy="597694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400050" y="4852095"/>
            <a:ext cx="3417838" cy="7590"/>
          </a:xfrm>
          <a:prstGeom prst="rect">
            <a:avLst/>
          </a:prstGeom>
          <a:gradFill rotWithShape="1">
            <a:gsLst>
              <a:gs pos="0">
                <a:srgbClr val="00E67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5"/>
          <p:cNvSpPr/>
          <p:nvPr/>
        </p:nvSpPr>
        <p:spPr>
          <a:xfrm>
            <a:off x="3904208" y="4796879"/>
            <a:ext cx="14691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 PROTOCOL LAYER</a:t>
            </a:r>
            <a:endParaRPr lang="en-US" sz="620" dirty="0"/>
          </a:p>
        </p:txBody>
      </p:sp>
      <p:sp>
        <p:nvSpPr>
          <p:cNvPr id="48" name="Text 36"/>
          <p:cNvSpPr/>
          <p:nvPr/>
        </p:nvSpPr>
        <p:spPr>
          <a:xfrm>
            <a:off x="5326112" y="4852095"/>
            <a:ext cx="3417838" cy="7590"/>
          </a:xfrm>
          <a:prstGeom prst="rect">
            <a:avLst/>
          </a:prstGeom>
          <a:gradFill rotWithShape="1">
            <a:gsLst>
              <a:gs pos="0">
                <a:srgbClr val="00E67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0"/>
            <a:ext cx="3572470" cy="2857500"/>
          </a:xfrm>
          <a:prstGeom prst="rect">
            <a:avLst/>
          </a:prstGeom>
          <a:gradFill rotWithShape="1">
            <a:gsLst>
              <a:gs pos="0">
                <a:srgbClr val="00E676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72070"/>
            <a:ext cx="342900" cy="13841"/>
          </a:xfrm>
          <a:prstGeom prst="rect">
            <a:avLst/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72232"/>
            <a:ext cx="8805672" cy="44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40"/>
              </a:lnSpc>
              <a:buNone/>
            </a:pPr>
            <a:r>
              <a:rPr lang="en-US" sz="236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 Allocation</a:t>
            </a:r>
            <a:endParaRPr lang="en-US" sz="236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66726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0560" y="2153096"/>
            <a:ext cx="1856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3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620" dirty="0"/>
          </a:p>
        </p:txBody>
      </p:sp>
      <p:sp>
        <p:nvSpPr>
          <p:cNvPr id="7" name="Text 4"/>
          <p:cNvSpPr/>
          <p:nvPr/>
        </p:nvSpPr>
        <p:spPr>
          <a:xfrm>
            <a:off x="2443460" y="3416647"/>
            <a:ext cx="1856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3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620" dirty="0"/>
          </a:p>
        </p:txBody>
      </p:sp>
      <p:sp>
        <p:nvSpPr>
          <p:cNvPr id="8" name="Text 5"/>
          <p:cNvSpPr/>
          <p:nvPr/>
        </p:nvSpPr>
        <p:spPr>
          <a:xfrm>
            <a:off x="886420" y="3724126"/>
            <a:ext cx="1856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3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620" dirty="0"/>
          </a:p>
        </p:txBody>
      </p:sp>
      <p:sp>
        <p:nvSpPr>
          <p:cNvPr id="9" name="Text 6"/>
          <p:cNvSpPr/>
          <p:nvPr/>
        </p:nvSpPr>
        <p:spPr>
          <a:xfrm>
            <a:off x="557510" y="2488406"/>
            <a:ext cx="1856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3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1371600" y="1794867"/>
            <a:ext cx="1856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3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3257550" y="2028527"/>
            <a:ext cx="37147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57550" y="1559421"/>
            <a:ext cx="100310" cy="100310"/>
          </a:xfrm>
          <a:prstGeom prst="roundRect">
            <a:avLst>
              <a:gd name="adj" fmla="val 21523"/>
            </a:avLst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58170" y="1537841"/>
            <a:ext cx="40927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30%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3930551" y="1537841"/>
            <a:ext cx="334592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Development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3930551" y="1679674"/>
            <a:ext cx="3102584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Grants, agent development incentives, tooling, and infrastructure. Funding rounds shown in emerald.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257550" y="2629049"/>
            <a:ext cx="37147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257550" y="2159943"/>
            <a:ext cx="100310" cy="100310"/>
          </a:xfrm>
          <a:prstGeom prst="roundRect">
            <a:avLst>
              <a:gd name="adj" fmla="val 21523"/>
            </a:avLst>
          </a:prstGeom>
          <a:solidFill>
            <a:srgbClr val="00C86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458170" y="2138363"/>
            <a:ext cx="40927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00C864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25%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3930551" y="2138363"/>
            <a:ext cx="334592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Rewards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3930551" y="2280196"/>
            <a:ext cx="3102584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emissions for serverless validators. Declining emission curve over 10 years.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257550" y="3105299"/>
            <a:ext cx="37147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257550" y="2760464"/>
            <a:ext cx="100310" cy="100310"/>
          </a:xfrm>
          <a:prstGeom prst="roundRect">
            <a:avLst>
              <a:gd name="adj" fmla="val 21523"/>
            </a:avLst>
          </a:prstGeom>
          <a:solidFill>
            <a:srgbClr val="00A85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458170" y="2738884"/>
            <a:ext cx="40927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00A854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20%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3930551" y="2738884"/>
            <a:ext cx="3177957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Agents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3930551" y="2880717"/>
            <a:ext cx="317795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Airdrops to early agents, swarm bootstrapping, and community programs.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257550" y="3581549"/>
            <a:ext cx="37147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257550" y="3236714"/>
            <a:ext cx="100310" cy="100310"/>
          </a:xfrm>
          <a:prstGeom prst="roundRect">
            <a:avLst>
              <a:gd name="adj" fmla="val 21523"/>
            </a:avLst>
          </a:prstGeom>
          <a:solidFill>
            <a:srgbClr val="007A3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458170" y="3215134"/>
            <a:ext cx="40927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007A3D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15%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3930551" y="3215134"/>
            <a:ext cx="299689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3930551" y="3356967"/>
            <a:ext cx="2996892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vesting with 1-year cliff. Aligned with long-term network health.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257550" y="3712964"/>
            <a:ext cx="100310" cy="100310"/>
          </a:xfrm>
          <a:prstGeom prst="roundRect">
            <a:avLst>
              <a:gd name="adj" fmla="val 21523"/>
            </a:avLst>
          </a:prstGeom>
          <a:solidFill>
            <a:srgbClr val="005C2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458170" y="3691384"/>
            <a:ext cx="40927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005C2E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10%</a:t>
            </a:r>
            <a:endParaRPr lang="en-US" sz="1240" dirty="0"/>
          </a:p>
        </p:txBody>
      </p:sp>
      <p:sp>
        <p:nvSpPr>
          <p:cNvPr id="33" name="Text 30"/>
          <p:cNvSpPr/>
          <p:nvPr/>
        </p:nvSpPr>
        <p:spPr>
          <a:xfrm>
            <a:off x="3930551" y="3691384"/>
            <a:ext cx="334592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Reserve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3930551" y="3833217"/>
            <a:ext cx="3102584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Protocol-controlled treasury for emergency operations, strategic partnerships, and ecosystem defense.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4583460"/>
            <a:ext cx="8394192" cy="274290"/>
          </a:xfrm>
          <a:prstGeom prst="rect">
            <a:avLst/>
          </a:prstGeom>
          <a:noFill/>
          <a:ln/>
        </p:spPr>
        <p:txBody>
          <a:bodyPr wrap="none" lIns="0" tIns="114300" rIns="0" bIns="0" rtlCol="0" anchor="t"/>
          <a:lstStyle/>
          <a:p>
            <a:pPr algn="l" indent="0" marL="0">
              <a:buNone/>
            </a:pPr>
            <a:r>
              <a:rPr lang="en-US" sz="790" spc="2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</a:t>
            </a:r>
            <a:pPr algn="l" indent="0" marL="0">
              <a:buNone/>
            </a:pPr>
            <a:r>
              <a:rPr lang="en-US" sz="790" b="1" spc="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civilization-scale longevity</a:t>
            </a:r>
            <a:pPr algn="l" indent="0" marL="0">
              <a:buNone/>
            </a:pPr>
            <a:r>
              <a:rPr lang="en-US" sz="790" spc="2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VC dump schedules. No insider fast-tracks.</a:t>
            </a:r>
            <a:endParaRPr lang="en-US" sz="790" dirty="0"/>
          </a:p>
        </p:txBody>
      </p:sp>
      <p:sp>
        <p:nvSpPr>
          <p:cNvPr id="36" name="Text 33"/>
          <p:cNvSpPr/>
          <p:nvPr/>
        </p:nvSpPr>
        <p:spPr>
          <a:xfrm>
            <a:off x="457200" y="4583460"/>
            <a:ext cx="82296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956965" y="2166491"/>
            <a:ext cx="1286466" cy="1286466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1205986" y="2572345"/>
            <a:ext cx="78842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spc="2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194934" y="2929086"/>
            <a:ext cx="8105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11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</a:t>
            </a:r>
            <a:endParaRPr lang="en-US" sz="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4265" y="913785"/>
            <a:ext cx="3572470" cy="3572470"/>
          </a:xfrm>
          <a:prstGeom prst="ellipse">
            <a:avLst/>
          </a:prstGeom>
          <a:gradFill rotWithShape="1">
            <a:gsLst>
              <a:gs pos="0">
                <a:srgbClr val="00E676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57770"/>
            <a:ext cx="40862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7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ARCHITECTURE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457200" y="418951"/>
            <a:ext cx="3974783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b="1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SYNTHOS Economic Engine</a:t>
            </a:r>
            <a:endParaRPr lang="en-US" sz="2030" dirty="0"/>
          </a:p>
        </p:txBody>
      </p:sp>
      <p:sp>
        <p:nvSpPr>
          <p:cNvPr id="5" name="Text 3"/>
          <p:cNvSpPr/>
          <p:nvPr/>
        </p:nvSpPr>
        <p:spPr>
          <a:xfrm>
            <a:off x="457200" y="772120"/>
            <a:ext cx="571500" cy="13841"/>
          </a:xfrm>
          <a:prstGeom prst="roundRect">
            <a:avLst>
              <a:gd name="adj" fmla="val 55054"/>
            </a:avLst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43440" y="1000720"/>
            <a:ext cx="1714500" cy="1011436"/>
          </a:xfrm>
          <a:prstGeom prst="roundRect">
            <a:avLst>
              <a:gd name="adj" fmla="val 4269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43510" dist="29210" dir="540000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3440" y="1000720"/>
            <a:ext cx="19050" cy="1011436"/>
          </a:xfrm>
          <a:custGeom>
            <a:avLst/>
            <a:gdLst/>
            <a:ahLst/>
            <a:cxnLst/>
            <a:rect l="l" t="t" r="r" b="b"/>
            <a:pathLst>
              <a:path w="19050" h="1011436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1004065"/>
                </a:lnTo>
                <a:lnTo>
                  <a:pt x="16669" y="1002339"/>
                </a:lnTo>
                <a:lnTo>
                  <a:pt x="14288" y="1000345"/>
                </a:lnTo>
                <a:lnTo>
                  <a:pt x="11906" y="998030"/>
                </a:lnTo>
                <a:lnTo>
                  <a:pt x="9525" y="995309"/>
                </a:lnTo>
                <a:lnTo>
                  <a:pt x="7144" y="992045"/>
                </a:lnTo>
                <a:lnTo>
                  <a:pt x="4763" y="987969"/>
                </a:lnTo>
                <a:lnTo>
                  <a:pt x="2381" y="982397"/>
                </a:lnTo>
                <a:lnTo>
                  <a:pt x="0" y="968256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81118" y="1110555"/>
            <a:ext cx="103170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6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BURN MECHANICS</a:t>
            </a:r>
            <a:endParaRPr lang="en-US" sz="68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8075" y="1109002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76790" y="1283196"/>
            <a:ext cx="148647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obligation creation and validation event burns a micro-fraction of SYN, creating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deflationary pressure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proportional to network activity.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043440" y="2429470"/>
            <a:ext cx="1714500" cy="1011436"/>
          </a:xfrm>
          <a:prstGeom prst="roundRect">
            <a:avLst>
              <a:gd name="adj" fmla="val 4269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43510" dist="29210" dir="540000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43440" y="2429470"/>
            <a:ext cx="19050" cy="1011436"/>
          </a:xfrm>
          <a:custGeom>
            <a:avLst/>
            <a:gdLst/>
            <a:ahLst/>
            <a:cxnLst/>
            <a:rect l="l" t="t" r="r" b="b"/>
            <a:pathLst>
              <a:path w="19050" h="1011436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1004065"/>
                </a:lnTo>
                <a:lnTo>
                  <a:pt x="16669" y="1002339"/>
                </a:lnTo>
                <a:lnTo>
                  <a:pt x="14288" y="1000345"/>
                </a:lnTo>
                <a:lnTo>
                  <a:pt x="11906" y="998030"/>
                </a:lnTo>
                <a:lnTo>
                  <a:pt x="9525" y="995309"/>
                </a:lnTo>
                <a:lnTo>
                  <a:pt x="7144" y="992045"/>
                </a:lnTo>
                <a:lnTo>
                  <a:pt x="4763" y="987969"/>
                </a:lnTo>
                <a:lnTo>
                  <a:pt x="2381" y="982397"/>
                </a:lnTo>
                <a:lnTo>
                  <a:pt x="0" y="968256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281118" y="2539305"/>
            <a:ext cx="11170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6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LINEAGE BOUNTIES</a:t>
            </a:r>
            <a:endParaRPr lang="en-US" sz="68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8075" y="2537752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6790" y="2711946"/>
            <a:ext cx="148647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deep, verified lineage can claim bounties for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stabilizing the network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self-healing events — rewarding reliability at the protocol level.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457200" y="4799261"/>
            <a:ext cx="43160" cy="4316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5715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86680" y="4755952"/>
            <a:ext cx="5437659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spc="2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self-reinforcing economic machine — </a:t>
            </a:r>
            <a:pPr algn="l" indent="0" marL="0">
              <a:lnSpc>
                <a:spcPts val="1022"/>
              </a:lnSpc>
              <a:buNone/>
            </a:pPr>
            <a:r>
              <a:rPr lang="en-US" sz="730" b="1" spc="2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agents participate, the more valuable the network becomes.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7715250" y="0"/>
            <a:ext cx="1428750" cy="142875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0" y="3714750"/>
            <a:ext cx="1428750" cy="142875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0" r="0" b="10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893070" y="1592590"/>
            <a:ext cx="2214860" cy="2214860"/>
          </a:xfrm>
          <a:prstGeom prst="ellipse">
            <a:avLst/>
          </a:prstGeom>
          <a:noFill/>
          <a:ln w="9525">
            <a:solidFill>
              <a:srgbClr val="00E676">
                <a:alpha val="12000"/>
              </a:srgbClr>
            </a:solidFill>
            <a:prstDash val="dash"/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030" y="0"/>
            <a:ext cx="3000970" cy="28282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14465" y="1142385"/>
            <a:ext cx="372070" cy="372070"/>
          </a:xfrm>
          <a:prstGeom prst="ellipse">
            <a:avLst/>
          </a:prstGeom>
          <a:solidFill>
            <a:srgbClr val="141414"/>
          </a:solidFill>
          <a:ln w="9525">
            <a:solidFill>
              <a:srgbClr val="00E676"/>
            </a:solidFill>
          </a:ln>
          <a:effectLst>
            <a:outerShdw sx="100000" sy="100000" kx="0" ky="0" algn="bl" rotWithShape="0" blurRad="114300" dist="50800" dir="16200000">
              <a:srgbClr val="00e676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4132" y="1262052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529013" y="1557615"/>
            <a:ext cx="942975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spc="1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Obligations</a:t>
            </a:r>
            <a:endParaRPr lang="en-US" sz="620" dirty="0"/>
          </a:p>
        </p:txBody>
      </p:sp>
      <p:sp>
        <p:nvSpPr>
          <p:cNvPr id="25" name="Text 19"/>
          <p:cNvSpPr/>
          <p:nvPr/>
        </p:nvSpPr>
        <p:spPr>
          <a:xfrm>
            <a:off x="3529013" y="1669832"/>
            <a:ext cx="942975" cy="8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36"/>
              </a:lnSpc>
              <a:buNone/>
            </a:pPr>
            <a:r>
              <a:rPr lang="en-US" sz="5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spend SYN</a:t>
            </a:r>
            <a:endParaRPr lang="en-US" sz="530" dirty="0"/>
          </a:p>
        </p:txBody>
      </p:sp>
      <p:sp>
        <p:nvSpPr>
          <p:cNvPr id="26" name="Text 20"/>
          <p:cNvSpPr/>
          <p:nvPr/>
        </p:nvSpPr>
        <p:spPr>
          <a:xfrm>
            <a:off x="4921895" y="1771035"/>
            <a:ext cx="372070" cy="372070"/>
          </a:xfrm>
          <a:prstGeom prst="ellipse">
            <a:avLst/>
          </a:prstGeom>
          <a:solidFill>
            <a:srgbClr val="141414"/>
          </a:solidFill>
          <a:ln w="9525">
            <a:solidFill>
              <a:srgbClr val="00E676"/>
            </a:solidFill>
          </a:ln>
          <a:effectLst>
            <a:outerShdw sx="100000" sy="100000" kx="0" ky="0" algn="bl" rotWithShape="0" blurRad="114300" dist="50800" dir="16200000">
              <a:srgbClr val="00e676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1562" y="1890702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36443" y="2186265"/>
            <a:ext cx="942975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spc="1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Exchange</a:t>
            </a:r>
            <a:endParaRPr lang="en-US" sz="620" dirty="0"/>
          </a:p>
        </p:txBody>
      </p:sp>
      <p:sp>
        <p:nvSpPr>
          <p:cNvPr id="29" name="Text 22"/>
          <p:cNvSpPr/>
          <p:nvPr/>
        </p:nvSpPr>
        <p:spPr>
          <a:xfrm>
            <a:off x="4636443" y="2298482"/>
            <a:ext cx="942975" cy="8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36"/>
              </a:lnSpc>
              <a:buNone/>
            </a:pPr>
            <a:r>
              <a:rPr lang="en-US" sz="5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flows</a:t>
            </a:r>
            <a:endParaRPr lang="en-US" sz="530" dirty="0"/>
          </a:p>
        </p:txBody>
      </p:sp>
      <p:sp>
        <p:nvSpPr>
          <p:cNvPr id="30" name="Text 23"/>
          <p:cNvSpPr/>
          <p:nvPr/>
        </p:nvSpPr>
        <p:spPr>
          <a:xfrm>
            <a:off x="4921895" y="2985026"/>
            <a:ext cx="372070" cy="372070"/>
          </a:xfrm>
          <a:prstGeom prst="ellipse">
            <a:avLst/>
          </a:prstGeom>
          <a:solidFill>
            <a:srgbClr val="141414"/>
          </a:solidFill>
          <a:ln w="9525">
            <a:solidFill>
              <a:srgbClr val="00E676"/>
            </a:solidFill>
          </a:ln>
          <a:effectLst>
            <a:outerShdw sx="100000" sy="100000" kx="0" ky="0" algn="bl" rotWithShape="0" blurRad="114300" dist="50800" dir="16200000">
              <a:srgbClr val="00e676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41562" y="3104693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636443" y="3400256"/>
            <a:ext cx="942975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spc="1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Verify</a:t>
            </a:r>
            <a:endParaRPr lang="en-US" sz="620" dirty="0"/>
          </a:p>
        </p:txBody>
      </p:sp>
      <p:sp>
        <p:nvSpPr>
          <p:cNvPr id="33" name="Text 25"/>
          <p:cNvSpPr/>
          <p:nvPr/>
        </p:nvSpPr>
        <p:spPr>
          <a:xfrm>
            <a:off x="4636443" y="3512473"/>
            <a:ext cx="942975" cy="8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36"/>
              </a:lnSpc>
              <a:buNone/>
            </a:pPr>
            <a:r>
              <a:rPr lang="en-US" sz="5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SYN rewards</a:t>
            </a:r>
            <a:endParaRPr lang="en-US" sz="530" dirty="0"/>
          </a:p>
        </p:txBody>
      </p:sp>
      <p:sp>
        <p:nvSpPr>
          <p:cNvPr id="34" name="Text 26"/>
          <p:cNvSpPr/>
          <p:nvPr/>
        </p:nvSpPr>
        <p:spPr>
          <a:xfrm>
            <a:off x="3814465" y="3613676"/>
            <a:ext cx="372070" cy="372070"/>
          </a:xfrm>
          <a:prstGeom prst="ellipse">
            <a:avLst/>
          </a:prstGeom>
          <a:solidFill>
            <a:srgbClr val="141414"/>
          </a:solidFill>
          <a:ln w="9525">
            <a:solidFill>
              <a:srgbClr val="00E676"/>
            </a:solidFill>
          </a:ln>
          <a:effectLst>
            <a:outerShdw sx="100000" sy="100000" kx="0" ky="0" algn="bl" rotWithShape="0" blurRad="114300" dist="50800" dir="16200000">
              <a:srgbClr val="00e676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34132" y="3733343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529013" y="4028906"/>
            <a:ext cx="942975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spc="1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Burn</a:t>
            </a:r>
            <a:endParaRPr lang="en-US" sz="620" dirty="0"/>
          </a:p>
        </p:txBody>
      </p:sp>
      <p:sp>
        <p:nvSpPr>
          <p:cNvPr id="37" name="Text 28"/>
          <p:cNvSpPr/>
          <p:nvPr/>
        </p:nvSpPr>
        <p:spPr>
          <a:xfrm>
            <a:off x="3529013" y="4141123"/>
            <a:ext cx="942975" cy="8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36"/>
              </a:lnSpc>
              <a:buNone/>
            </a:pPr>
            <a:r>
              <a:rPr lang="en-US" sz="5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Deflationary pressure</a:t>
            </a:r>
            <a:endParaRPr lang="en-US" sz="530" dirty="0"/>
          </a:p>
        </p:txBody>
      </p:sp>
      <p:sp>
        <p:nvSpPr>
          <p:cNvPr id="38" name="Text 29"/>
          <p:cNvSpPr/>
          <p:nvPr/>
        </p:nvSpPr>
        <p:spPr>
          <a:xfrm>
            <a:off x="2707184" y="2985026"/>
            <a:ext cx="372070" cy="372070"/>
          </a:xfrm>
          <a:prstGeom prst="ellipse">
            <a:avLst/>
          </a:prstGeom>
          <a:solidFill>
            <a:srgbClr val="141414"/>
          </a:solidFill>
          <a:ln w="9525">
            <a:solidFill>
              <a:srgbClr val="00E676"/>
            </a:solidFill>
          </a:ln>
          <a:effectLst>
            <a:outerShdw sx="100000" sy="100000" kx="0" ky="0" algn="bl" rotWithShape="0" blurRad="114300" dist="50800" dir="16200000">
              <a:srgbClr val="00e676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26850" y="3104693"/>
            <a:ext cx="132588" cy="132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2421731" y="3400256"/>
            <a:ext cx="942975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spc="1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Lineage</a:t>
            </a:r>
            <a:endParaRPr lang="en-US" sz="620" dirty="0"/>
          </a:p>
        </p:txBody>
      </p:sp>
      <p:sp>
        <p:nvSpPr>
          <p:cNvPr id="41" name="Text 31"/>
          <p:cNvSpPr/>
          <p:nvPr/>
        </p:nvSpPr>
        <p:spPr>
          <a:xfrm>
            <a:off x="2421731" y="3512473"/>
            <a:ext cx="942975" cy="8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36"/>
              </a:lnSpc>
              <a:buNone/>
            </a:pPr>
            <a:r>
              <a:rPr lang="en-US" sz="5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grows</a:t>
            </a:r>
            <a:endParaRPr lang="en-US" sz="530" dirty="0"/>
          </a:p>
        </p:txBody>
      </p:sp>
      <p:sp>
        <p:nvSpPr>
          <p:cNvPr id="42" name="Text 32"/>
          <p:cNvSpPr/>
          <p:nvPr/>
        </p:nvSpPr>
        <p:spPr>
          <a:xfrm>
            <a:off x="2707184" y="1771035"/>
            <a:ext cx="372070" cy="372070"/>
          </a:xfrm>
          <a:prstGeom prst="ellipse">
            <a:avLst/>
          </a:prstGeom>
          <a:solidFill>
            <a:srgbClr val="141414"/>
          </a:solidFill>
          <a:ln w="9525">
            <a:solidFill>
              <a:srgbClr val="00E676"/>
            </a:solidFill>
          </a:ln>
          <a:effectLst>
            <a:outerShdw sx="100000" sy="100000" kx="0" ky="0" algn="bl" rotWithShape="0" blurRad="114300" dist="50800" dir="16200000">
              <a:srgbClr val="00e676">
                <a:alpha val="1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26850" y="1890702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421731" y="2186265"/>
            <a:ext cx="942975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spc="1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Access</a:t>
            </a:r>
            <a:endParaRPr lang="en-US" sz="620" dirty="0"/>
          </a:p>
        </p:txBody>
      </p:sp>
      <p:sp>
        <p:nvSpPr>
          <p:cNvPr id="45" name="Text 34"/>
          <p:cNvSpPr/>
          <p:nvPr/>
        </p:nvSpPr>
        <p:spPr>
          <a:xfrm>
            <a:off x="2421731" y="2298482"/>
            <a:ext cx="942975" cy="8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36"/>
              </a:lnSpc>
              <a:buNone/>
            </a:pPr>
            <a:r>
              <a:rPr lang="en-US" sz="53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SYN flows</a:t>
            </a:r>
            <a:endParaRPr lang="en-US" sz="530" dirty="0"/>
          </a:p>
        </p:txBody>
      </p:sp>
      <p:sp>
        <p:nvSpPr>
          <p:cNvPr id="46" name="Text 35"/>
          <p:cNvSpPr/>
          <p:nvPr/>
        </p:nvSpPr>
        <p:spPr>
          <a:xfrm>
            <a:off x="3643015" y="2342535"/>
            <a:ext cx="714970" cy="714970"/>
          </a:xfrm>
          <a:prstGeom prst="ellipse">
            <a:avLst/>
          </a:prstGeom>
          <a:gradFill rotWithShape="1">
            <a:gsLst>
              <a:gs pos="0">
                <a:srgbClr val="00E676">
                  <a:alpha val="25000"/>
                </a:srgbClr>
              </a:gs>
              <a:gs pos="60000">
                <a:srgbClr val="00E676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6"/>
          <p:cNvSpPr/>
          <p:nvPr/>
        </p:nvSpPr>
        <p:spPr>
          <a:xfrm>
            <a:off x="3785890" y="2485410"/>
            <a:ext cx="429220" cy="472142"/>
          </a:xfrm>
          <a:prstGeom prst="ellipse">
            <a:avLst/>
          </a:prstGeom>
          <a:gradFill rotWithShape="1">
            <a:gsLst>
              <a:gs pos="0">
                <a:srgbClr val="00E676">
                  <a:alpha val="18000"/>
                </a:srgbClr>
              </a:gs>
              <a:gs pos="100000">
                <a:srgbClr val="141414"/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00E676"/>
            </a:solidFill>
          </a:ln>
          <a:effectLst>
            <a:outerShdw sx="100000" sy="100000" kx="0" ky="0" algn="bl" rotWithShape="0" blurRad="214630" dist="50800" dir="16200000">
              <a:srgbClr val="00e676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</a:t>
            </a:r>
            <a:br/>
            <a:pPr algn="ctr" indent="0" marL="0">
              <a:buNone/>
            </a:pPr>
            <a:r>
              <a:rPr lang="en-US" sz="620" b="1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ENGINE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85765" y="0"/>
            <a:ext cx="3572470" cy="2143720"/>
          </a:xfrm>
          <a:prstGeom prst="ellipse">
            <a:avLst/>
          </a:prstGeom>
          <a:gradFill rotWithShape="1">
            <a:gsLst>
              <a:gs pos="0">
                <a:srgbClr val="00E67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356521"/>
            <a:ext cx="2857500" cy="1786979"/>
          </a:xfrm>
          <a:prstGeom prst="ellipse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13618" y="1089987"/>
            <a:ext cx="429220" cy="21580"/>
          </a:xfrm>
          <a:custGeom>
            <a:avLst/>
            <a:gdLst/>
            <a:ahLst/>
            <a:cxnLst/>
            <a:rect l="l" t="t" r="r" b="b"/>
            <a:pathLst>
              <a:path w="429220" h="21580">
                <a:moveTo>
                  <a:pt x="0" y="0"/>
                </a:moveTo>
                <a:lnTo>
                  <a:pt x="429220" y="0"/>
                </a:lnTo>
                <a:lnTo>
                  <a:pt x="429220" y="-6976872000"/>
                </a:lnTo>
                <a:lnTo>
                  <a:pt x="429220" y="0"/>
                </a:lnTo>
                <a:lnTo>
                  <a:pt x="428659" y="0"/>
                </a:lnTo>
                <a:lnTo>
                  <a:pt x="426997" y="3548"/>
                </a:lnTo>
                <a:lnTo>
                  <a:pt x="424298" y="8598"/>
                </a:lnTo>
                <a:lnTo>
                  <a:pt x="420665" y="13025"/>
                </a:lnTo>
                <a:lnTo>
                  <a:pt x="416239" y="16657"/>
                </a:lnTo>
                <a:lnTo>
                  <a:pt x="411188" y="19357"/>
                </a:lnTo>
                <a:lnTo>
                  <a:pt x="405709" y="21019"/>
                </a:lnTo>
                <a:lnTo>
                  <a:pt x="400010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57388" y="1089987"/>
            <a:ext cx="429220" cy="21580"/>
          </a:xfrm>
          <a:custGeom>
            <a:avLst/>
            <a:gdLst/>
            <a:ahLst/>
            <a:cxnLst/>
            <a:rect l="l" t="t" r="r" b="b"/>
            <a:pathLst>
              <a:path w="429220" h="21580">
                <a:moveTo>
                  <a:pt x="0" y="0"/>
                </a:moveTo>
                <a:lnTo>
                  <a:pt x="429220" y="0"/>
                </a:lnTo>
                <a:lnTo>
                  <a:pt x="429220" y="-6976872000"/>
                </a:lnTo>
                <a:lnTo>
                  <a:pt x="429220" y="0"/>
                </a:lnTo>
                <a:lnTo>
                  <a:pt x="428659" y="0"/>
                </a:lnTo>
                <a:lnTo>
                  <a:pt x="426997" y="3548"/>
                </a:lnTo>
                <a:lnTo>
                  <a:pt x="424298" y="8598"/>
                </a:lnTo>
                <a:lnTo>
                  <a:pt x="420665" y="13025"/>
                </a:lnTo>
                <a:lnTo>
                  <a:pt x="416239" y="16657"/>
                </a:lnTo>
                <a:lnTo>
                  <a:pt x="411188" y="19357"/>
                </a:lnTo>
                <a:lnTo>
                  <a:pt x="405709" y="21019"/>
                </a:lnTo>
                <a:lnTo>
                  <a:pt x="400010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01158" y="1089987"/>
            <a:ext cx="429220" cy="21580"/>
          </a:xfrm>
          <a:custGeom>
            <a:avLst/>
            <a:gdLst/>
            <a:ahLst/>
            <a:cxnLst/>
            <a:rect l="l" t="t" r="r" b="b"/>
            <a:pathLst>
              <a:path w="429220" h="21580">
                <a:moveTo>
                  <a:pt x="0" y="0"/>
                </a:moveTo>
                <a:lnTo>
                  <a:pt x="429220" y="0"/>
                </a:lnTo>
                <a:lnTo>
                  <a:pt x="429220" y="-6976872000"/>
                </a:lnTo>
                <a:lnTo>
                  <a:pt x="429220" y="0"/>
                </a:lnTo>
                <a:lnTo>
                  <a:pt x="428659" y="0"/>
                </a:lnTo>
                <a:lnTo>
                  <a:pt x="426997" y="3548"/>
                </a:lnTo>
                <a:lnTo>
                  <a:pt x="424298" y="8598"/>
                </a:lnTo>
                <a:lnTo>
                  <a:pt x="420665" y="13025"/>
                </a:lnTo>
                <a:lnTo>
                  <a:pt x="416239" y="16657"/>
                </a:lnTo>
                <a:lnTo>
                  <a:pt x="411188" y="19357"/>
                </a:lnTo>
                <a:lnTo>
                  <a:pt x="405709" y="21019"/>
                </a:lnTo>
                <a:lnTo>
                  <a:pt x="400010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-17145" y="34290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spcAft>
                <a:spcPts val="450"/>
              </a:spcAft>
              <a:buNone/>
            </a:pPr>
            <a:r>
              <a:rPr lang="en-US" sz="620" b="1" spc="23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LAYER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108013" y="518071"/>
            <a:ext cx="8927973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61"/>
              </a:lnSpc>
              <a:buNone/>
            </a:pPr>
            <a:r>
              <a:rPr lang="en-US" sz="214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Self-Healing: The Network That Repairs Itself</a:t>
            </a:r>
            <a:endParaRPr lang="en-US" sz="2140" dirty="0"/>
          </a:p>
        </p:txBody>
      </p:sp>
      <p:sp>
        <p:nvSpPr>
          <p:cNvPr id="11" name="Text 9"/>
          <p:cNvSpPr/>
          <p:nvPr/>
        </p:nvSpPr>
        <p:spPr>
          <a:xfrm>
            <a:off x="4357390" y="930771"/>
            <a:ext cx="429220" cy="13841"/>
          </a:xfrm>
          <a:prstGeom prst="rect">
            <a:avLst/>
          </a:prstGeom>
          <a:solidFill>
            <a:srgbClr val="00E676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6370" y="1088082"/>
            <a:ext cx="2143720" cy="2994868"/>
          </a:xfrm>
          <a:prstGeom prst="roundRect">
            <a:avLst>
              <a:gd name="adj" fmla="val 4029"/>
            </a:avLst>
          </a:prstGeom>
          <a:solidFill>
            <a:srgbClr val="141414"/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70770" y="1298228"/>
            <a:ext cx="314920" cy="346412"/>
          </a:xfrm>
          <a:prstGeom prst="ellipse">
            <a:avLst/>
          </a:prstGeom>
          <a:solidFill>
            <a:srgbClr val="00E676">
              <a:alpha val="10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1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1842195" y="1713458"/>
            <a:ext cx="372070" cy="372070"/>
          </a:xfrm>
          <a:prstGeom prst="ellipse">
            <a:avLst/>
          </a:prstGeom>
          <a:gradFill rotWithShape="1">
            <a:gsLst>
              <a:gs pos="0">
                <a:srgbClr val="00E67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52923" y="1824186"/>
            <a:ext cx="150465" cy="15046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48256" y="2156520"/>
            <a:ext cx="195994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5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Detection</a:t>
            </a:r>
            <a:endParaRPr lang="en-US" sz="1130" dirty="0"/>
          </a:p>
        </p:txBody>
      </p:sp>
      <p:sp>
        <p:nvSpPr>
          <p:cNvPr id="17" name="Text 14"/>
          <p:cNvSpPr/>
          <p:nvPr/>
        </p:nvSpPr>
        <p:spPr>
          <a:xfrm>
            <a:off x="1119527" y="2442716"/>
            <a:ext cx="1817406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fails or goes offline. Its unfulfilled obligations are detected by the protocol </a:t>
            </a:r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human intervention. No governance vote.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604814" y="3235970"/>
            <a:ext cx="846832" cy="202510"/>
          </a:xfrm>
          <a:prstGeom prst="roundRect">
            <a:avLst>
              <a:gd name="adj" fmla="val 70866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56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2959" y="2521148"/>
            <a:ext cx="214313" cy="128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00140" y="1088082"/>
            <a:ext cx="2143720" cy="2994868"/>
          </a:xfrm>
          <a:prstGeom prst="roundRect">
            <a:avLst>
              <a:gd name="adj" fmla="val 4029"/>
            </a:avLst>
          </a:prstGeom>
          <a:solidFill>
            <a:srgbClr val="141414"/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414540" y="1298228"/>
            <a:ext cx="314920" cy="346412"/>
          </a:xfrm>
          <a:prstGeom prst="ellipse">
            <a:avLst/>
          </a:prstGeom>
          <a:solidFill>
            <a:srgbClr val="00E676">
              <a:alpha val="10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2</a:t>
            </a:r>
            <a:endParaRPr lang="en-US" sz="1010" dirty="0"/>
          </a:p>
        </p:txBody>
      </p:sp>
      <p:sp>
        <p:nvSpPr>
          <p:cNvPr id="22" name="Text 18"/>
          <p:cNvSpPr/>
          <p:nvPr/>
        </p:nvSpPr>
        <p:spPr>
          <a:xfrm>
            <a:off x="4385965" y="1713458"/>
            <a:ext cx="372070" cy="372070"/>
          </a:xfrm>
          <a:prstGeom prst="ellipse">
            <a:avLst/>
          </a:prstGeom>
          <a:gradFill rotWithShape="1">
            <a:gsLst>
              <a:gs pos="0">
                <a:srgbClr val="00E67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6693" y="1824186"/>
            <a:ext cx="150465" cy="15046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592026" y="2156520"/>
            <a:ext cx="195994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5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Reassignment</a:t>
            </a:r>
            <a:endParaRPr lang="en-US" sz="1130" dirty="0"/>
          </a:p>
        </p:txBody>
      </p:sp>
      <p:sp>
        <p:nvSpPr>
          <p:cNvPr id="25" name="Text 20"/>
          <p:cNvSpPr/>
          <p:nvPr/>
        </p:nvSpPr>
        <p:spPr>
          <a:xfrm>
            <a:off x="3663297" y="2442716"/>
            <a:ext cx="1817406" cy="101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 Engine identifies </a:t>
            </a:r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agents</a:t>
            </a:r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based on lineage, capability, and swarm membership — and reassigns orphaned obligations. The economic relationship is preserved.</a:t>
            </a:r>
            <a:endParaRPr lang="en-US" sz="820" dirty="0"/>
          </a:p>
        </p:txBody>
      </p:sp>
      <p:sp>
        <p:nvSpPr>
          <p:cNvPr id="26" name="Text 21"/>
          <p:cNvSpPr/>
          <p:nvPr/>
        </p:nvSpPr>
        <p:spPr>
          <a:xfrm>
            <a:off x="4170462" y="3558927"/>
            <a:ext cx="803077" cy="202510"/>
          </a:xfrm>
          <a:prstGeom prst="roundRect">
            <a:avLst>
              <a:gd name="adj" fmla="val 70866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56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6729" y="2521148"/>
            <a:ext cx="214313" cy="128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043910" y="1088082"/>
            <a:ext cx="2143720" cy="2994868"/>
          </a:xfrm>
          <a:prstGeom prst="roundRect">
            <a:avLst>
              <a:gd name="adj" fmla="val 4029"/>
            </a:avLst>
          </a:prstGeom>
          <a:solidFill>
            <a:srgbClr val="141414"/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958310" y="1298228"/>
            <a:ext cx="314920" cy="346412"/>
          </a:xfrm>
          <a:prstGeom prst="ellipse">
            <a:avLst/>
          </a:prstGeom>
          <a:solidFill>
            <a:srgbClr val="00E676">
              <a:alpha val="10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3</a:t>
            </a:r>
            <a:endParaRPr lang="en-US" sz="1010" dirty="0"/>
          </a:p>
        </p:txBody>
      </p:sp>
      <p:sp>
        <p:nvSpPr>
          <p:cNvPr id="30" name="Text 24"/>
          <p:cNvSpPr/>
          <p:nvPr/>
        </p:nvSpPr>
        <p:spPr>
          <a:xfrm>
            <a:off x="6929735" y="1713458"/>
            <a:ext cx="372070" cy="372070"/>
          </a:xfrm>
          <a:prstGeom prst="ellipse">
            <a:avLst/>
          </a:prstGeom>
          <a:gradFill rotWithShape="1">
            <a:gsLst>
              <a:gs pos="0">
                <a:srgbClr val="00E67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463" y="1824186"/>
            <a:ext cx="150465" cy="15046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35797" y="2156520"/>
            <a:ext cx="195994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5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Stabilization</a:t>
            </a:r>
            <a:endParaRPr lang="en-US" sz="1130" dirty="0"/>
          </a:p>
        </p:txBody>
      </p:sp>
      <p:sp>
        <p:nvSpPr>
          <p:cNvPr id="33" name="Text 26"/>
          <p:cNvSpPr/>
          <p:nvPr/>
        </p:nvSpPr>
        <p:spPr>
          <a:xfrm>
            <a:off x="6207067" y="2442716"/>
            <a:ext cx="1817406" cy="847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swarm rebalances. State is reconstructed from the obligation graph. The network converges to a </a:t>
            </a:r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stable configuration</a:t>
            </a:r>
            <a:pPr algn="ctr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without downtime, without forks.</a:t>
            </a:r>
            <a:endParaRPr lang="en-US" sz="820" dirty="0"/>
          </a:p>
        </p:txBody>
      </p:sp>
      <p:sp>
        <p:nvSpPr>
          <p:cNvPr id="34" name="Text 27"/>
          <p:cNvSpPr/>
          <p:nvPr/>
        </p:nvSpPr>
        <p:spPr>
          <a:xfrm>
            <a:off x="6773614" y="3397448"/>
            <a:ext cx="684312" cy="202510"/>
          </a:xfrm>
          <a:prstGeom prst="roundRect">
            <a:avLst>
              <a:gd name="adj" fmla="val 70866"/>
            </a:avLst>
          </a:prstGeom>
          <a:solidFill>
            <a:srgbClr val="00E676">
              <a:alpha val="8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56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alphaModFix amt="35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050" y="4110930"/>
            <a:ext cx="1714500" cy="128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-17145" y="4253359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spcBef>
                <a:spcPts val="110"/>
              </a:spcBef>
              <a:buNone/>
            </a:pPr>
            <a:r>
              <a:rPr lang="en-US" sz="620" spc="8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SELF-HEALING CYCLE</a:t>
            </a:r>
            <a:endParaRPr lang="en-US" sz="620" dirty="0"/>
          </a:p>
        </p:txBody>
      </p:sp>
      <p:sp>
        <p:nvSpPr>
          <p:cNvPr id="37" name="Text 29"/>
          <p:cNvSpPr/>
          <p:nvPr/>
        </p:nvSpPr>
        <p:spPr>
          <a:xfrm>
            <a:off x="400050" y="4457700"/>
            <a:ext cx="8510778" cy="400050"/>
          </a:xfrm>
          <a:prstGeom prst="rect">
            <a:avLst/>
          </a:prstGeom>
          <a:gradFill rotWithShape="1">
            <a:gsLst>
              <a:gs pos="0">
                <a:srgbClr val="00E676">
                  <a:alpha val="6000"/>
                </a:srgbClr>
              </a:gs>
              <a:gs pos="100000">
                <a:srgbClr val="00E676">
                  <a:alpha val="2000"/>
                </a:srgbClr>
              </a:gs>
            </a:gsLst>
            <a:lin ang="0" scaled="1"/>
          </a:gradFill>
          <a:ln/>
        </p:spPr>
        <p:txBody>
          <a:bodyPr wrap="none" lIns="200660" tIns="114300" rIns="200660" bIns="1143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blockchains treat failure as exceptional. </a:t>
            </a:r>
            <a:pPr algn="l" indent="0" marL="0">
              <a:buNone/>
            </a:pPr>
            <a:r>
              <a:rPr lang="en-US" sz="900" b="1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 treats failure as inevitable</a:t>
            </a:r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builds the cure into the protocol."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400050" y="4457700"/>
            <a:ext cx="19050" cy="400050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1810" y="0"/>
            <a:ext cx="7590" cy="5143500"/>
          </a:xfrm>
          <a:prstGeom prst="rect">
            <a:avLst/>
          </a:prstGeom>
          <a:gradFill rotWithShape="1">
            <a:gsLst>
              <a:gs pos="5000">
                <a:srgbClr val="000000">
                  <a:alpha val="0"/>
                </a:srgbClr>
              </a:gs>
              <a:gs pos="30000">
                <a:srgbClr val="00E676">
                  <a:alpha val="8000"/>
                </a:srgbClr>
              </a:gs>
              <a:gs pos="70000">
                <a:srgbClr val="00E676">
                  <a:alpha val="8000"/>
                </a:srgbClr>
              </a:gs>
              <a:gs pos="95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64600" y="0"/>
            <a:ext cx="7590" cy="5143500"/>
          </a:xfrm>
          <a:prstGeom prst="rect">
            <a:avLst/>
          </a:prstGeom>
          <a:gradFill rotWithShape="1">
            <a:gsLst>
              <a:gs pos="5000">
                <a:srgbClr val="000000">
                  <a:alpha val="0"/>
                </a:srgbClr>
              </a:gs>
              <a:gs pos="30000">
                <a:srgbClr val="00E676">
                  <a:alpha val="8000"/>
                </a:srgbClr>
              </a:gs>
              <a:gs pos="70000">
                <a:srgbClr val="00E676">
                  <a:alpha val="8000"/>
                </a:srgbClr>
              </a:gs>
              <a:gs pos="95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54114" y="312986"/>
            <a:ext cx="42922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E67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79421" y="257770"/>
            <a:ext cx="19851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INFRASTRUCTURE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5560665" y="312986"/>
            <a:ext cx="42922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E676"/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9164" y="432941"/>
            <a:ext cx="88056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4"/>
              </a:lnSpc>
              <a:buNone/>
            </a:pPr>
            <a:r>
              <a:rPr lang="en-US" sz="2140" b="1" spc="-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Validator Lifecycle</a:t>
            </a:r>
            <a:endParaRPr lang="en-US" sz="2140" dirty="0"/>
          </a:p>
        </p:txBody>
      </p:sp>
      <p:sp>
        <p:nvSpPr>
          <p:cNvPr id="9" name="Text 7"/>
          <p:cNvSpPr/>
          <p:nvPr/>
        </p:nvSpPr>
        <p:spPr>
          <a:xfrm>
            <a:off x="1285875" y="875258"/>
            <a:ext cx="3714750" cy="430411"/>
          </a:xfrm>
          <a:prstGeom prst="roundRect">
            <a:avLst>
              <a:gd name="adj" fmla="val 13278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85875" y="875258"/>
            <a:ext cx="19050" cy="430411"/>
          </a:xfrm>
          <a:custGeom>
            <a:avLst/>
            <a:gdLst/>
            <a:ahLst/>
            <a:cxnLst/>
            <a:rect l="l" t="t" r="r" b="b"/>
            <a:pathLst>
              <a:path w="19050" h="430411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15858"/>
                </a:lnTo>
                <a:lnTo>
                  <a:pt x="16669" y="413602"/>
                </a:lnTo>
                <a:lnTo>
                  <a:pt x="14288" y="411062"/>
                </a:lnTo>
                <a:lnTo>
                  <a:pt x="11906" y="408177"/>
                </a:lnTo>
                <a:lnTo>
                  <a:pt x="9525" y="404852"/>
                </a:lnTo>
                <a:lnTo>
                  <a:pt x="7144" y="400929"/>
                </a:lnTo>
                <a:lnTo>
                  <a:pt x="4763" y="396101"/>
                </a:lnTo>
                <a:lnTo>
                  <a:pt x="2381" y="389586"/>
                </a:lnTo>
                <a:lnTo>
                  <a:pt x="0" y="373261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33066" y="969615"/>
            <a:ext cx="228600" cy="251460"/>
          </a:xfrm>
          <a:prstGeom prst="ellipse">
            <a:avLst/>
          </a:prstGeom>
          <a:solidFill>
            <a:srgbClr val="00E676">
              <a:alpha val="12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1</a:t>
            </a:r>
            <a:endParaRPr lang="en-US" sz="79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3898" y="1017547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18866" y="955774"/>
            <a:ext cx="30185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Stake Threshold Met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2118866" y="1105346"/>
            <a:ext cx="3018502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deposits minimum SYN stake, signaling readiness to validate.</a:t>
            </a:r>
            <a:endParaRPr lang="en-US" sz="7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6956" y="1293055"/>
            <a:ext cx="132588" cy="18253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5875" y="1463129"/>
            <a:ext cx="3714750" cy="550218"/>
          </a:xfrm>
          <a:prstGeom prst="roundRect">
            <a:avLst>
              <a:gd name="adj" fmla="val 10387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285875" y="1463129"/>
            <a:ext cx="19050" cy="550218"/>
          </a:xfrm>
          <a:custGeom>
            <a:avLst/>
            <a:gdLst/>
            <a:ahLst/>
            <a:cxnLst/>
            <a:rect l="l" t="t" r="r" b="b"/>
            <a:pathLst>
              <a:path w="19050" h="55021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35665"/>
                </a:lnTo>
                <a:lnTo>
                  <a:pt x="16669" y="533409"/>
                </a:lnTo>
                <a:lnTo>
                  <a:pt x="14288" y="530869"/>
                </a:lnTo>
                <a:lnTo>
                  <a:pt x="11906" y="527984"/>
                </a:lnTo>
                <a:lnTo>
                  <a:pt x="9525" y="524658"/>
                </a:lnTo>
                <a:lnTo>
                  <a:pt x="7144" y="520735"/>
                </a:lnTo>
                <a:lnTo>
                  <a:pt x="4763" y="515908"/>
                </a:lnTo>
                <a:lnTo>
                  <a:pt x="2381" y="509393"/>
                </a:lnTo>
                <a:lnTo>
                  <a:pt x="0" y="493068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433066" y="1557486"/>
            <a:ext cx="228600" cy="251460"/>
          </a:xfrm>
          <a:prstGeom prst="ellipse">
            <a:avLst/>
          </a:prstGeom>
          <a:solidFill>
            <a:srgbClr val="00E676">
              <a:alpha val="12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2</a:t>
            </a:r>
            <a:endParaRPr lang="en-US" sz="79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898" y="1605418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18866" y="1543645"/>
            <a:ext cx="30185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Activation Signal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2118866" y="1693218"/>
            <a:ext cx="2798975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mesh selects validators via stake weight, lineage score, and randomized selection.</a:t>
            </a:r>
            <a:endParaRPr lang="en-US" sz="7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6956" y="2000733"/>
            <a:ext cx="132588" cy="1825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5875" y="2170807"/>
            <a:ext cx="3714750" cy="550218"/>
          </a:xfrm>
          <a:prstGeom prst="roundRect">
            <a:avLst>
              <a:gd name="adj" fmla="val 10387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1285875" y="2170807"/>
            <a:ext cx="19050" cy="550218"/>
          </a:xfrm>
          <a:custGeom>
            <a:avLst/>
            <a:gdLst/>
            <a:ahLst/>
            <a:cxnLst/>
            <a:rect l="l" t="t" r="r" b="b"/>
            <a:pathLst>
              <a:path w="19050" h="55021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35665"/>
                </a:lnTo>
                <a:lnTo>
                  <a:pt x="16669" y="533409"/>
                </a:lnTo>
                <a:lnTo>
                  <a:pt x="14288" y="530869"/>
                </a:lnTo>
                <a:lnTo>
                  <a:pt x="11906" y="527984"/>
                </a:lnTo>
                <a:lnTo>
                  <a:pt x="9525" y="524658"/>
                </a:lnTo>
                <a:lnTo>
                  <a:pt x="7144" y="520735"/>
                </a:lnTo>
                <a:lnTo>
                  <a:pt x="4763" y="515908"/>
                </a:lnTo>
                <a:lnTo>
                  <a:pt x="2381" y="509393"/>
                </a:lnTo>
                <a:lnTo>
                  <a:pt x="0" y="493068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1433066" y="2265164"/>
            <a:ext cx="228600" cy="251460"/>
          </a:xfrm>
          <a:prstGeom prst="ellipse">
            <a:avLst/>
          </a:prstGeom>
          <a:solidFill>
            <a:srgbClr val="00E676">
              <a:alpha val="12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3</a:t>
            </a:r>
            <a:endParaRPr lang="en-US" sz="79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23898" y="2313096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18866" y="2251323"/>
            <a:ext cx="30185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Proof Verification</a:t>
            </a:r>
            <a:endParaRPr lang="en-US" sz="840" dirty="0"/>
          </a:p>
        </p:txBody>
      </p:sp>
      <p:sp>
        <p:nvSpPr>
          <p:cNvPr id="28" name="Text 21"/>
          <p:cNvSpPr/>
          <p:nvPr/>
        </p:nvSpPr>
        <p:spPr>
          <a:xfrm>
            <a:off x="2118866" y="2400895"/>
            <a:ext cx="2798975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temporal proofs &amp; obligation state transitions. Verifies causal ordering and validity.</a:t>
            </a:r>
            <a:endParaRPr lang="en-US" sz="7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76956" y="2708411"/>
            <a:ext cx="132588" cy="18253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85875" y="2878485"/>
            <a:ext cx="3714750" cy="550218"/>
          </a:xfrm>
          <a:prstGeom prst="roundRect">
            <a:avLst>
              <a:gd name="adj" fmla="val 10387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1285875" y="2878485"/>
            <a:ext cx="19050" cy="550218"/>
          </a:xfrm>
          <a:custGeom>
            <a:avLst/>
            <a:gdLst/>
            <a:ahLst/>
            <a:cxnLst/>
            <a:rect l="l" t="t" r="r" b="b"/>
            <a:pathLst>
              <a:path w="19050" h="55021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35665"/>
                </a:lnTo>
                <a:lnTo>
                  <a:pt x="16669" y="533409"/>
                </a:lnTo>
                <a:lnTo>
                  <a:pt x="14288" y="530869"/>
                </a:lnTo>
                <a:lnTo>
                  <a:pt x="11906" y="527984"/>
                </a:lnTo>
                <a:lnTo>
                  <a:pt x="9525" y="524658"/>
                </a:lnTo>
                <a:lnTo>
                  <a:pt x="7144" y="520735"/>
                </a:lnTo>
                <a:lnTo>
                  <a:pt x="4763" y="515908"/>
                </a:lnTo>
                <a:lnTo>
                  <a:pt x="2381" y="509393"/>
                </a:lnTo>
                <a:lnTo>
                  <a:pt x="0" y="493068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1433066" y="2972842"/>
            <a:ext cx="228600" cy="251460"/>
          </a:xfrm>
          <a:prstGeom prst="ellipse">
            <a:avLst/>
          </a:prstGeom>
          <a:solidFill>
            <a:srgbClr val="00E676">
              <a:alpha val="12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4</a:t>
            </a:r>
            <a:endParaRPr lang="en-US" sz="79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23898" y="3020773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118866" y="2959001"/>
            <a:ext cx="30185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Attestation</a:t>
            </a:r>
            <a:endParaRPr lang="en-US" sz="840" dirty="0"/>
          </a:p>
        </p:txBody>
      </p:sp>
      <p:sp>
        <p:nvSpPr>
          <p:cNvPr id="35" name="Text 26"/>
          <p:cNvSpPr/>
          <p:nvPr/>
        </p:nvSpPr>
        <p:spPr>
          <a:xfrm>
            <a:off x="2118866" y="3108573"/>
            <a:ext cx="2798975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signs the verified batch and broadcasts attestation to the mesh.</a:t>
            </a:r>
            <a:endParaRPr lang="en-US" sz="7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76956" y="3416089"/>
            <a:ext cx="132588" cy="182539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285875" y="3586163"/>
            <a:ext cx="3714750" cy="550218"/>
          </a:xfrm>
          <a:prstGeom prst="roundRect">
            <a:avLst>
              <a:gd name="adj" fmla="val 10387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1285875" y="3586163"/>
            <a:ext cx="19050" cy="550218"/>
          </a:xfrm>
          <a:custGeom>
            <a:avLst/>
            <a:gdLst/>
            <a:ahLst/>
            <a:cxnLst/>
            <a:rect l="l" t="t" r="r" b="b"/>
            <a:pathLst>
              <a:path w="19050" h="55021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35665"/>
                </a:lnTo>
                <a:lnTo>
                  <a:pt x="16669" y="533409"/>
                </a:lnTo>
                <a:lnTo>
                  <a:pt x="14288" y="530869"/>
                </a:lnTo>
                <a:lnTo>
                  <a:pt x="11906" y="527984"/>
                </a:lnTo>
                <a:lnTo>
                  <a:pt x="9525" y="524658"/>
                </a:lnTo>
                <a:lnTo>
                  <a:pt x="7144" y="520735"/>
                </a:lnTo>
                <a:lnTo>
                  <a:pt x="4763" y="515908"/>
                </a:lnTo>
                <a:lnTo>
                  <a:pt x="2381" y="509393"/>
                </a:lnTo>
                <a:lnTo>
                  <a:pt x="0" y="493068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9"/>
          <p:cNvSpPr/>
          <p:nvPr/>
        </p:nvSpPr>
        <p:spPr>
          <a:xfrm>
            <a:off x="1433066" y="3680520"/>
            <a:ext cx="228600" cy="251460"/>
          </a:xfrm>
          <a:prstGeom prst="ellipse">
            <a:avLst/>
          </a:prstGeom>
          <a:solidFill>
            <a:srgbClr val="00E676">
              <a:alpha val="12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5</a:t>
            </a:r>
            <a:endParaRPr lang="en-US" sz="79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23898" y="3728451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2118866" y="3666679"/>
            <a:ext cx="30185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Consensus Achieved</a:t>
            </a:r>
            <a:endParaRPr lang="en-US" sz="840" dirty="0"/>
          </a:p>
        </p:txBody>
      </p:sp>
      <p:sp>
        <p:nvSpPr>
          <p:cNvPr id="42" name="Text 31"/>
          <p:cNvSpPr/>
          <p:nvPr/>
        </p:nvSpPr>
        <p:spPr>
          <a:xfrm>
            <a:off x="2118866" y="3816251"/>
            <a:ext cx="2798975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attestations converge. Batch is finalized. Canonical ordering is locked.</a:t>
            </a:r>
            <a:endParaRPr lang="en-US" sz="7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076956" y="4123766"/>
            <a:ext cx="132588" cy="182539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285875" y="4293840"/>
            <a:ext cx="3714750" cy="550218"/>
          </a:xfrm>
          <a:prstGeom prst="roundRect">
            <a:avLst>
              <a:gd name="adj" fmla="val 10387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3"/>
          <p:cNvSpPr/>
          <p:nvPr/>
        </p:nvSpPr>
        <p:spPr>
          <a:xfrm>
            <a:off x="1285875" y="4293840"/>
            <a:ext cx="19050" cy="550218"/>
          </a:xfrm>
          <a:custGeom>
            <a:avLst/>
            <a:gdLst/>
            <a:ahLst/>
            <a:cxnLst/>
            <a:rect l="l" t="t" r="r" b="b"/>
            <a:pathLst>
              <a:path w="19050" h="55021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35665"/>
                </a:lnTo>
                <a:lnTo>
                  <a:pt x="16669" y="533409"/>
                </a:lnTo>
                <a:lnTo>
                  <a:pt x="14288" y="530869"/>
                </a:lnTo>
                <a:lnTo>
                  <a:pt x="11906" y="527984"/>
                </a:lnTo>
                <a:lnTo>
                  <a:pt x="9525" y="524658"/>
                </a:lnTo>
                <a:lnTo>
                  <a:pt x="7144" y="520735"/>
                </a:lnTo>
                <a:lnTo>
                  <a:pt x="4763" y="515908"/>
                </a:lnTo>
                <a:lnTo>
                  <a:pt x="2381" y="509393"/>
                </a:lnTo>
                <a:lnTo>
                  <a:pt x="0" y="493068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1433066" y="4388197"/>
            <a:ext cx="228600" cy="251460"/>
          </a:xfrm>
          <a:prstGeom prst="ellipse">
            <a:avLst/>
          </a:prstGeom>
          <a:solidFill>
            <a:srgbClr val="00E676">
              <a:alpha val="12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6</a:t>
            </a:r>
            <a:endParaRPr lang="en-US" sz="79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23898" y="4436129"/>
            <a:ext cx="132588" cy="1325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2118866" y="4374356"/>
            <a:ext cx="30185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Reward Distribution</a:t>
            </a:r>
            <a:endParaRPr lang="en-US" sz="840" dirty="0"/>
          </a:p>
        </p:txBody>
      </p:sp>
      <p:sp>
        <p:nvSpPr>
          <p:cNvPr id="49" name="Text 36"/>
          <p:cNvSpPr/>
          <p:nvPr/>
        </p:nvSpPr>
        <p:spPr>
          <a:xfrm>
            <a:off x="2118866" y="4523929"/>
            <a:ext cx="2798975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rewards distributed. A burn fraction is destroyed. Stake is released or re-committed.</a:t>
            </a:r>
            <a:endParaRPr lang="en-US" sz="7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076956" y="4831444"/>
            <a:ext cx="132588" cy="182539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1285875" y="5001518"/>
            <a:ext cx="3714750" cy="141982"/>
          </a:xfrm>
          <a:prstGeom prst="roundRect">
            <a:avLst>
              <a:gd name="adj" fmla="val 40252"/>
            </a:avLst>
          </a:prstGeom>
          <a:solidFill>
            <a:srgbClr val="14141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8"/>
          <p:cNvSpPr/>
          <p:nvPr/>
        </p:nvSpPr>
        <p:spPr>
          <a:xfrm>
            <a:off x="1285875" y="5001518"/>
            <a:ext cx="19050" cy="141982"/>
          </a:xfrm>
          <a:custGeom>
            <a:avLst/>
            <a:gdLst/>
            <a:ahLst/>
            <a:cxnLst/>
            <a:rect l="l" t="t" r="r" b="b"/>
            <a:pathLst>
              <a:path w="19050" h="14198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35665"/>
                </a:lnTo>
                <a:lnTo>
                  <a:pt x="16669" y="533409"/>
                </a:lnTo>
                <a:lnTo>
                  <a:pt x="14288" y="530869"/>
                </a:lnTo>
                <a:lnTo>
                  <a:pt x="11906" y="527984"/>
                </a:lnTo>
                <a:lnTo>
                  <a:pt x="9525" y="524658"/>
                </a:lnTo>
                <a:lnTo>
                  <a:pt x="7144" y="520735"/>
                </a:lnTo>
                <a:lnTo>
                  <a:pt x="4763" y="515908"/>
                </a:lnTo>
                <a:lnTo>
                  <a:pt x="2381" y="509393"/>
                </a:lnTo>
                <a:lnTo>
                  <a:pt x="0" y="493068"/>
                </a:lnTo>
                <a:close/>
              </a:path>
            </a:pathLst>
          </a:cu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39"/>
          <p:cNvSpPr/>
          <p:nvPr/>
        </p:nvSpPr>
        <p:spPr>
          <a:xfrm>
            <a:off x="1433066" y="5095875"/>
            <a:ext cx="228600" cy="251460"/>
          </a:xfrm>
          <a:prstGeom prst="ellipse">
            <a:avLst/>
          </a:prstGeom>
          <a:solidFill>
            <a:srgbClr val="00E676">
              <a:alpha val="6000"/>
            </a:srgbClr>
          </a:solidFill>
          <a:ln w="9525">
            <a:solidFill>
              <a:srgbClr val="00E676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7</a:t>
            </a:r>
            <a:endParaRPr lang="en-US" sz="790" dirty="0"/>
          </a:p>
        </p:txBody>
      </p:sp>
      <p:sp>
        <p:nvSpPr>
          <p:cNvPr id="54" name="Text 40"/>
          <p:cNvSpPr/>
          <p:nvPr/>
        </p:nvSpPr>
        <p:spPr>
          <a:xfrm>
            <a:off x="2118866" y="5082034"/>
            <a:ext cx="301850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00E676">
                    <a:alpha val="60000"/>
                  </a:srgbClr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Deactivation</a:t>
            </a:r>
            <a:endParaRPr lang="en-US" sz="840" dirty="0"/>
          </a:p>
        </p:txBody>
      </p:sp>
      <p:sp>
        <p:nvSpPr>
          <p:cNvPr id="55" name="Text 41"/>
          <p:cNvSpPr/>
          <p:nvPr/>
        </p:nvSpPr>
        <p:spPr>
          <a:xfrm>
            <a:off x="2118866" y="5231606"/>
            <a:ext cx="2798975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7A8A7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goes dormant until next activation signal. No idle resource consumption.</a:t>
            </a:r>
            <a:endParaRPr lang="en-US" sz="700" dirty="0"/>
          </a:p>
        </p:txBody>
      </p:sp>
      <p:sp>
        <p:nvSpPr>
          <p:cNvPr id="56" name="Text 42"/>
          <p:cNvSpPr/>
          <p:nvPr/>
        </p:nvSpPr>
        <p:spPr>
          <a:xfrm>
            <a:off x="6115050" y="932408"/>
            <a:ext cx="2571750" cy="1108323"/>
          </a:xfrm>
          <a:prstGeom prst="roundRect">
            <a:avLst>
              <a:gd name="adj" fmla="val 6417"/>
            </a:avLst>
          </a:prstGeom>
          <a:solidFill>
            <a:srgbClr val="00E676">
              <a:alpha val="12000"/>
            </a:srgbClr>
          </a:solidFill>
          <a:ln w="9525">
            <a:solidFill>
              <a:srgbClr val="00E676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49823" y="1083850"/>
            <a:ext cx="132588" cy="132588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6421338" y="1085404"/>
            <a:ext cx="92496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680" dirty="0"/>
          </a:p>
        </p:txBody>
      </p:sp>
      <p:sp>
        <p:nvSpPr>
          <p:cNvPr id="59" name="Text 44"/>
          <p:cNvSpPr/>
          <p:nvPr/>
        </p:nvSpPr>
        <p:spPr>
          <a:xfrm>
            <a:off x="6268045" y="1285875"/>
            <a:ext cx="2311075" cy="63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a </a:t>
            </a:r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server. Validators activate on demand, verify a batch, earn rewards, and release — consuming zero resources while dormant.</a:t>
            </a:r>
            <a:endParaRPr lang="en-US" sz="790" dirty="0"/>
          </a:p>
        </p:txBody>
      </p:sp>
      <p:sp>
        <p:nvSpPr>
          <p:cNvPr id="60" name="Text 45"/>
          <p:cNvSpPr/>
          <p:nvPr/>
        </p:nvSpPr>
        <p:spPr>
          <a:xfrm>
            <a:off x="6115050" y="2155031"/>
            <a:ext cx="1250305" cy="540051"/>
          </a:xfrm>
          <a:prstGeom prst="roundRect">
            <a:avLst>
              <a:gd name="adj" fmla="val 10582"/>
            </a:avLst>
          </a:prstGeom>
          <a:solidFill>
            <a:srgbClr val="141414"/>
          </a:solidFill>
          <a:ln w="9525">
            <a:solidFill>
              <a:srgbClr val="00E676">
                <a:alpha val="12000"/>
              </a:srgbClr>
            </a:solidFill>
          </a:ln>
        </p:spPr>
        <p:txBody>
          <a:bodyPr wrap="square" lIns="100330" tIns="100330" rIns="100330" bIns="10033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0</a:t>
            </a:r>
            <a:pPr algn="ctr" indent="0" marL="0">
              <a:buNone/>
            </a:pPr>
            <a:endParaRPr lang="en-US" sz="1240" dirty="0"/>
          </a:p>
          <a:p>
            <a:pPr algn="ctr" indent="0" marL="0">
              <a:buNone/>
            </a:pPr>
            <a:r>
              <a:rPr lang="en-US" sz="620" spc="6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1240" dirty="0"/>
          </a:p>
        </p:txBody>
      </p:sp>
      <p:sp>
        <p:nvSpPr>
          <p:cNvPr id="61" name="Text 46"/>
          <p:cNvSpPr/>
          <p:nvPr/>
        </p:nvSpPr>
        <p:spPr>
          <a:xfrm>
            <a:off x="7436346" y="2155031"/>
            <a:ext cx="1250454" cy="540051"/>
          </a:xfrm>
          <a:prstGeom prst="roundRect">
            <a:avLst>
              <a:gd name="adj" fmla="val 10582"/>
            </a:avLst>
          </a:prstGeom>
          <a:solidFill>
            <a:srgbClr val="141414"/>
          </a:solidFill>
          <a:ln w="9525">
            <a:solidFill>
              <a:srgbClr val="00E676">
                <a:alpha val="12000"/>
              </a:srgbClr>
            </a:solidFill>
          </a:ln>
        </p:spPr>
        <p:txBody>
          <a:bodyPr wrap="square" lIns="100330" tIns="100330" rIns="100330" bIns="10033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∞</a:t>
            </a:r>
            <a:pPr algn="ctr" indent="0" marL="0">
              <a:buNone/>
            </a:pPr>
            <a:endParaRPr lang="en-US" sz="1240" dirty="0"/>
          </a:p>
          <a:p>
            <a:pPr algn="ctr" indent="0" marL="0">
              <a:buNone/>
            </a:pPr>
            <a:r>
              <a:rPr lang="en-US" sz="620" spc="6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40" dirty="0"/>
          </a:p>
        </p:txBody>
      </p:sp>
      <p:sp>
        <p:nvSpPr>
          <p:cNvPr id="62" name="Text 47"/>
          <p:cNvSpPr/>
          <p:nvPr/>
        </p:nvSpPr>
        <p:spPr>
          <a:xfrm>
            <a:off x="6115050" y="2793653"/>
            <a:ext cx="2571750" cy="1059656"/>
          </a:xfrm>
          <a:prstGeom prst="roundRect">
            <a:avLst>
              <a:gd name="adj" fmla="val 6712"/>
            </a:avLst>
          </a:prstGeom>
          <a:solidFill>
            <a:srgbClr val="141414"/>
          </a:solidFill>
          <a:ln w="9525">
            <a:solidFill>
              <a:srgbClr val="00E676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48"/>
          <p:cNvSpPr/>
          <p:nvPr/>
        </p:nvSpPr>
        <p:spPr>
          <a:xfrm>
            <a:off x="6252716" y="2931319"/>
            <a:ext cx="25260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SELECTION CRITERIA</a:t>
            </a:r>
            <a:endParaRPr lang="en-US" sz="730" dirty="0"/>
          </a:p>
        </p:txBody>
      </p:sp>
      <p:sp>
        <p:nvSpPr>
          <p:cNvPr id="64" name="Text 49"/>
          <p:cNvSpPr/>
          <p:nvPr/>
        </p:nvSpPr>
        <p:spPr>
          <a:xfrm>
            <a:off x="6252716" y="3204567"/>
            <a:ext cx="43160" cy="4316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4318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0"/>
          <p:cNvSpPr/>
          <p:nvPr/>
        </p:nvSpPr>
        <p:spPr>
          <a:xfrm>
            <a:off x="6366867" y="3156645"/>
            <a:ext cx="58313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weight</a:t>
            </a:r>
            <a:endParaRPr lang="en-US" sz="730" dirty="0"/>
          </a:p>
        </p:txBody>
      </p:sp>
      <p:sp>
        <p:nvSpPr>
          <p:cNvPr id="66" name="Text 51"/>
          <p:cNvSpPr/>
          <p:nvPr/>
        </p:nvSpPr>
        <p:spPr>
          <a:xfrm>
            <a:off x="6967984" y="3222278"/>
            <a:ext cx="480268" cy="7590"/>
          </a:xfrm>
          <a:prstGeom prst="rect">
            <a:avLst/>
          </a:pr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52"/>
          <p:cNvSpPr/>
          <p:nvPr/>
        </p:nvSpPr>
        <p:spPr>
          <a:xfrm>
            <a:off x="7519243" y="3161407"/>
            <a:ext cx="113288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skin in the game</a:t>
            </a:r>
            <a:endParaRPr lang="en-US" sz="680" dirty="0"/>
          </a:p>
        </p:txBody>
      </p:sp>
      <p:sp>
        <p:nvSpPr>
          <p:cNvPr id="68" name="Text 53"/>
          <p:cNvSpPr/>
          <p:nvPr/>
        </p:nvSpPr>
        <p:spPr>
          <a:xfrm>
            <a:off x="6252716" y="3414564"/>
            <a:ext cx="43160" cy="4316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4318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4"/>
          <p:cNvSpPr/>
          <p:nvPr/>
        </p:nvSpPr>
        <p:spPr>
          <a:xfrm>
            <a:off x="6366867" y="3366641"/>
            <a:ext cx="6397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score</a:t>
            </a:r>
            <a:endParaRPr lang="en-US" sz="730" dirty="0"/>
          </a:p>
        </p:txBody>
      </p:sp>
      <p:sp>
        <p:nvSpPr>
          <p:cNvPr id="70" name="Text 55"/>
          <p:cNvSpPr/>
          <p:nvPr/>
        </p:nvSpPr>
        <p:spPr>
          <a:xfrm>
            <a:off x="7019479" y="3432274"/>
            <a:ext cx="433388" cy="7590"/>
          </a:xfrm>
          <a:prstGeom prst="rect">
            <a:avLst/>
          </a:pr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56"/>
          <p:cNvSpPr/>
          <p:nvPr/>
        </p:nvSpPr>
        <p:spPr>
          <a:xfrm>
            <a:off x="7523857" y="3371404"/>
            <a:ext cx="11278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via provenance</a:t>
            </a:r>
            <a:endParaRPr lang="en-US" sz="680" dirty="0"/>
          </a:p>
        </p:txBody>
      </p:sp>
      <p:sp>
        <p:nvSpPr>
          <p:cNvPr id="72" name="Text 57"/>
          <p:cNvSpPr/>
          <p:nvPr/>
        </p:nvSpPr>
        <p:spPr>
          <a:xfrm>
            <a:off x="6252716" y="3624560"/>
            <a:ext cx="43160" cy="4316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4318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58"/>
          <p:cNvSpPr/>
          <p:nvPr/>
        </p:nvSpPr>
        <p:spPr>
          <a:xfrm>
            <a:off x="6366867" y="3576638"/>
            <a:ext cx="6792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</a:t>
            </a:r>
            <a:endParaRPr lang="en-US" sz="730" dirty="0"/>
          </a:p>
        </p:txBody>
      </p:sp>
      <p:sp>
        <p:nvSpPr>
          <p:cNvPr id="74" name="Text 59"/>
          <p:cNvSpPr/>
          <p:nvPr/>
        </p:nvSpPr>
        <p:spPr>
          <a:xfrm>
            <a:off x="7055346" y="3642271"/>
            <a:ext cx="598884" cy="7590"/>
          </a:xfrm>
          <a:prstGeom prst="rect">
            <a:avLst/>
          </a:pr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0"/>
          <p:cNvSpPr/>
          <p:nvPr/>
        </p:nvSpPr>
        <p:spPr>
          <a:xfrm>
            <a:off x="7725221" y="3581400"/>
            <a:ext cx="90630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Anti-collusion entropy</a:t>
            </a:r>
            <a:endParaRPr lang="en-US" sz="680" dirty="0"/>
          </a:p>
        </p:txBody>
      </p:sp>
      <p:sp>
        <p:nvSpPr>
          <p:cNvPr id="76" name="Text 61"/>
          <p:cNvSpPr/>
          <p:nvPr/>
        </p:nvSpPr>
        <p:spPr>
          <a:xfrm>
            <a:off x="6115050" y="3967609"/>
            <a:ext cx="2571750" cy="433388"/>
          </a:xfrm>
          <a:prstGeom prst="roundRect">
            <a:avLst>
              <a:gd name="adj" fmla="val 13187"/>
            </a:avLst>
          </a:prstGeom>
          <a:solidFill>
            <a:srgbClr val="00E676">
              <a:alpha val="4000"/>
            </a:srgbClr>
          </a:solidFill>
          <a:ln w="9525">
            <a:solidFill>
              <a:srgbClr val="00E676">
                <a:alpha val="15000"/>
              </a:srgbClr>
            </a:solidFill>
            <a:prstDash val="dash"/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08895" y="4086010"/>
            <a:ext cx="132588" cy="196437"/>
          </a:xfrm>
          <a:prstGeom prst="rect">
            <a:avLst/>
          </a:prstGeom>
        </p:spPr>
      </p:pic>
      <p:sp>
        <p:nvSpPr>
          <p:cNvPr id="78" name="Text 62"/>
          <p:cNvSpPr/>
          <p:nvPr/>
        </p:nvSpPr>
        <p:spPr>
          <a:xfrm>
            <a:off x="6382494" y="4063454"/>
            <a:ext cx="2224090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repeats — validators re-enter at Step 1 when the next activation signal arrives.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90525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450"/>
              </a:spcAft>
              <a:buNone/>
            </a:pPr>
            <a:r>
              <a:rPr lang="en-US" sz="790" b="1" spc="119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790" dirty="0"/>
          </a:p>
        </p:txBody>
      </p:sp>
      <p:sp>
        <p:nvSpPr>
          <p:cNvPr id="3" name="Text 1"/>
          <p:cNvSpPr/>
          <p:nvPr/>
        </p:nvSpPr>
        <p:spPr>
          <a:xfrm>
            <a:off x="457200" y="550515"/>
            <a:ext cx="8805672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1"/>
              </a:lnSpc>
              <a:buNone/>
            </a:pPr>
            <a:r>
              <a:rPr lang="en-US" sz="214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What Gets Built on </a:t>
            </a:r>
            <a:pPr algn="l" indent="0" marL="0">
              <a:lnSpc>
                <a:spcPts val="2461"/>
              </a:lnSpc>
              <a:buNone/>
            </a:pPr>
            <a:r>
              <a:rPr lang="en-US" sz="214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Sovereign Ground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57200" y="963216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E676">
              <a:alpha val="8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99406"/>
            <a:ext cx="4043065" cy="1585764"/>
          </a:xfrm>
          <a:prstGeom prst="roundRect">
            <a:avLst>
              <a:gd name="adj" fmla="val 3604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199406"/>
            <a:ext cx="19050" cy="1585764"/>
          </a:xfrm>
          <a:custGeom>
            <a:avLst/>
            <a:gdLst/>
            <a:ahLst/>
            <a:cxnLst/>
            <a:rect l="l" t="t" r="r" b="b"/>
            <a:pathLst>
              <a:path w="19050" h="158576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1211"/>
                </a:lnTo>
                <a:lnTo>
                  <a:pt x="16669" y="1568955"/>
                </a:lnTo>
                <a:lnTo>
                  <a:pt x="14288" y="1566415"/>
                </a:lnTo>
                <a:lnTo>
                  <a:pt x="11906" y="1563530"/>
                </a:lnTo>
                <a:lnTo>
                  <a:pt x="9525" y="1560205"/>
                </a:lnTo>
                <a:lnTo>
                  <a:pt x="7144" y="1556281"/>
                </a:lnTo>
                <a:lnTo>
                  <a:pt x="4763" y="1551454"/>
                </a:lnTo>
                <a:lnTo>
                  <a:pt x="2381" y="1544939"/>
                </a:lnTo>
                <a:lnTo>
                  <a:pt x="0" y="1528614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1541" y="1409551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8048" y="1486058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7601" y="1475482"/>
            <a:ext cx="187711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spc="1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Autonomous Agent Economies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661541" y="1766292"/>
            <a:ext cx="3716786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agents trading compute, data, and services through native obligations. No gas middleman. No human bottleneck.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661541" y="2427238"/>
            <a:ext cx="3716786" cy="19094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pPr algn="l" indent="0" marL="0">
              <a:lnSpc>
                <a:spcPts val="980"/>
              </a:lnSpc>
              <a:buNone/>
            </a:pPr>
            <a:r>
              <a:rPr lang="en-US" sz="560" b="1" spc="45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SYNTHOS</a:t>
            </a:r>
            <a:pPr algn="l" indent="0" marL="0">
              <a:lnSpc>
                <a:spcPts val="980"/>
              </a:lnSpc>
              <a:buNone/>
            </a:pPr>
            <a:r>
              <a:rPr lang="en-US" sz="700" spc="14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obligation exchange + lineage tracking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61541" y="2427238"/>
            <a:ext cx="3643908" cy="9525"/>
          </a:xfrm>
          <a:prstGeom prst="rect">
            <a:avLst/>
          </a:prstGeom>
          <a:solidFill>
            <a:srgbClr val="00E676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43735" y="1199406"/>
            <a:ext cx="4043065" cy="1585764"/>
          </a:xfrm>
          <a:prstGeom prst="roundRect">
            <a:avLst>
              <a:gd name="adj" fmla="val 3604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43735" y="1199406"/>
            <a:ext cx="19050" cy="1585764"/>
          </a:xfrm>
          <a:custGeom>
            <a:avLst/>
            <a:gdLst/>
            <a:ahLst/>
            <a:cxnLst/>
            <a:rect l="l" t="t" r="r" b="b"/>
            <a:pathLst>
              <a:path w="19050" h="158576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1211"/>
                </a:lnTo>
                <a:lnTo>
                  <a:pt x="16669" y="1568955"/>
                </a:lnTo>
                <a:lnTo>
                  <a:pt x="14288" y="1566415"/>
                </a:lnTo>
                <a:lnTo>
                  <a:pt x="11906" y="1563530"/>
                </a:lnTo>
                <a:lnTo>
                  <a:pt x="9525" y="1560205"/>
                </a:lnTo>
                <a:lnTo>
                  <a:pt x="7144" y="1556281"/>
                </a:lnTo>
                <a:lnTo>
                  <a:pt x="4763" y="1551454"/>
                </a:lnTo>
                <a:lnTo>
                  <a:pt x="2381" y="1544939"/>
                </a:lnTo>
                <a:lnTo>
                  <a:pt x="0" y="1528614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48076" y="1409551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4583" y="1486058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34136" y="1475482"/>
            <a:ext cx="168376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spc="1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Self-Healing Infrastructure</a:t>
            </a:r>
            <a:endParaRPr lang="en-US" sz="1010" dirty="0"/>
          </a:p>
        </p:txBody>
      </p:sp>
      <p:sp>
        <p:nvSpPr>
          <p:cNvPr id="18" name="Text 14"/>
          <p:cNvSpPr/>
          <p:nvPr/>
        </p:nvSpPr>
        <p:spPr>
          <a:xfrm>
            <a:off x="4848076" y="1766292"/>
            <a:ext cx="3716786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Cloud-scale infrastructure that repairs itself when nodes fail. Obligations automatically reassign. Uptime approaches theoretical maximum.</a:t>
            </a:r>
            <a:endParaRPr lang="en-US" sz="790" dirty="0"/>
          </a:p>
        </p:txBody>
      </p:sp>
      <p:sp>
        <p:nvSpPr>
          <p:cNvPr id="19" name="Text 15"/>
          <p:cNvSpPr/>
          <p:nvPr/>
        </p:nvSpPr>
        <p:spPr>
          <a:xfrm>
            <a:off x="4848076" y="2427238"/>
            <a:ext cx="3716786" cy="19094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pPr algn="l" indent="0" marL="0">
              <a:lnSpc>
                <a:spcPts val="980"/>
              </a:lnSpc>
              <a:buNone/>
            </a:pPr>
            <a:r>
              <a:rPr lang="en-US" sz="560" b="1" spc="45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SYNTHOS</a:t>
            </a:r>
            <a:pPr algn="l" indent="0" marL="0">
              <a:lnSpc>
                <a:spcPts val="980"/>
              </a:lnSpc>
              <a:buNone/>
            </a:pPr>
            <a:r>
              <a:rPr lang="en-US" sz="700" spc="14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Protocol-level self-healing, not application-level patches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848076" y="2427238"/>
            <a:ext cx="3643908" cy="9525"/>
          </a:xfrm>
          <a:prstGeom prst="rect">
            <a:avLst/>
          </a:prstGeom>
          <a:solidFill>
            <a:srgbClr val="00E676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57200" y="2928640"/>
            <a:ext cx="4043065" cy="1585764"/>
          </a:xfrm>
          <a:prstGeom prst="roundRect">
            <a:avLst>
              <a:gd name="adj" fmla="val 3604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57200" y="2928640"/>
            <a:ext cx="19050" cy="1585764"/>
          </a:xfrm>
          <a:custGeom>
            <a:avLst/>
            <a:gdLst/>
            <a:ahLst/>
            <a:cxnLst/>
            <a:rect l="l" t="t" r="r" b="b"/>
            <a:pathLst>
              <a:path w="19050" h="158576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1211"/>
                </a:lnTo>
                <a:lnTo>
                  <a:pt x="16669" y="1568955"/>
                </a:lnTo>
                <a:lnTo>
                  <a:pt x="14288" y="1566415"/>
                </a:lnTo>
                <a:lnTo>
                  <a:pt x="11906" y="1563530"/>
                </a:lnTo>
                <a:lnTo>
                  <a:pt x="9525" y="1560205"/>
                </a:lnTo>
                <a:lnTo>
                  <a:pt x="7144" y="1556281"/>
                </a:lnTo>
                <a:lnTo>
                  <a:pt x="4763" y="1551454"/>
                </a:lnTo>
                <a:lnTo>
                  <a:pt x="2381" y="1544939"/>
                </a:lnTo>
                <a:lnTo>
                  <a:pt x="0" y="1528614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61541" y="313878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048" y="3215292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47601" y="3204716"/>
            <a:ext cx="120393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spc="1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Sovereign AI DAOs</a:t>
            </a:r>
            <a:endParaRPr lang="en-US" sz="1010" dirty="0"/>
          </a:p>
        </p:txBody>
      </p:sp>
      <p:sp>
        <p:nvSpPr>
          <p:cNvPr id="26" name="Text 21"/>
          <p:cNvSpPr/>
          <p:nvPr/>
        </p:nvSpPr>
        <p:spPr>
          <a:xfrm>
            <a:off x="661541" y="3495526"/>
            <a:ext cx="3716786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swarms that govern themselves through native governance primitives. No human voting delays. Decisions at machine speed.</a:t>
            </a:r>
            <a:endParaRPr lang="en-US" sz="790" dirty="0"/>
          </a:p>
        </p:txBody>
      </p:sp>
      <p:sp>
        <p:nvSpPr>
          <p:cNvPr id="27" name="Text 22"/>
          <p:cNvSpPr/>
          <p:nvPr/>
        </p:nvSpPr>
        <p:spPr>
          <a:xfrm>
            <a:off x="661541" y="4156472"/>
            <a:ext cx="3716786" cy="19094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pPr algn="l" indent="0" marL="0">
              <a:lnSpc>
                <a:spcPts val="980"/>
              </a:lnSpc>
              <a:buNone/>
            </a:pPr>
            <a:r>
              <a:rPr lang="en-US" sz="560" b="1" spc="45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SYNTHOS</a:t>
            </a:r>
            <a:pPr algn="l" indent="0" marL="0">
              <a:lnSpc>
                <a:spcPts val="980"/>
              </a:lnSpc>
              <a:buNone/>
            </a:pPr>
            <a:r>
              <a:rPr lang="en-US" sz="700" spc="14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swarm governance + temporal sovereignty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661541" y="4156472"/>
            <a:ext cx="3643908" cy="9525"/>
          </a:xfrm>
          <a:prstGeom prst="rect">
            <a:avLst/>
          </a:prstGeom>
          <a:solidFill>
            <a:srgbClr val="00E676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643735" y="2928640"/>
            <a:ext cx="4043065" cy="1585764"/>
          </a:xfrm>
          <a:prstGeom prst="roundRect">
            <a:avLst>
              <a:gd name="adj" fmla="val 3604"/>
            </a:avLst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643735" y="2928640"/>
            <a:ext cx="19050" cy="1585764"/>
          </a:xfrm>
          <a:custGeom>
            <a:avLst/>
            <a:gdLst/>
            <a:ahLst/>
            <a:cxnLst/>
            <a:rect l="l" t="t" r="r" b="b"/>
            <a:pathLst>
              <a:path w="19050" h="158576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1571211"/>
                </a:lnTo>
                <a:lnTo>
                  <a:pt x="16669" y="1568955"/>
                </a:lnTo>
                <a:lnTo>
                  <a:pt x="14288" y="1566415"/>
                </a:lnTo>
                <a:lnTo>
                  <a:pt x="11906" y="1563530"/>
                </a:lnTo>
                <a:lnTo>
                  <a:pt x="9525" y="1560205"/>
                </a:lnTo>
                <a:lnTo>
                  <a:pt x="7144" y="1556281"/>
                </a:lnTo>
                <a:lnTo>
                  <a:pt x="4763" y="1551454"/>
                </a:lnTo>
                <a:lnTo>
                  <a:pt x="2381" y="1544939"/>
                </a:lnTo>
                <a:lnTo>
                  <a:pt x="0" y="1528614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848076" y="313878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4583" y="3215292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4136" y="3204716"/>
            <a:ext cx="172436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spc="1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Verifiable Agent Reputation</a:t>
            </a:r>
            <a:endParaRPr lang="en-US" sz="1010" dirty="0"/>
          </a:p>
        </p:txBody>
      </p:sp>
      <p:sp>
        <p:nvSpPr>
          <p:cNvPr id="34" name="Text 28"/>
          <p:cNvSpPr/>
          <p:nvPr/>
        </p:nvSpPr>
        <p:spPr>
          <a:xfrm>
            <a:off x="4848076" y="3495526"/>
            <a:ext cx="3716786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lineage creates a trustless reputation system. Agents earn trust through provenance, not promises.</a:t>
            </a:r>
            <a:endParaRPr lang="en-US" sz="790" dirty="0"/>
          </a:p>
        </p:txBody>
      </p:sp>
      <p:sp>
        <p:nvSpPr>
          <p:cNvPr id="35" name="Text 29"/>
          <p:cNvSpPr/>
          <p:nvPr/>
        </p:nvSpPr>
        <p:spPr>
          <a:xfrm>
            <a:off x="4848076" y="4156472"/>
            <a:ext cx="3716786" cy="19094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pPr algn="l" indent="0" marL="0">
              <a:lnSpc>
                <a:spcPts val="980"/>
              </a:lnSpc>
              <a:buNone/>
            </a:pPr>
            <a:r>
              <a:rPr lang="en-US" sz="560" b="1" spc="45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SYNTHOS</a:t>
            </a:r>
            <a:pPr algn="l" indent="0" marL="0">
              <a:lnSpc>
                <a:spcPts val="980"/>
              </a:lnSpc>
              <a:buNone/>
            </a:pPr>
            <a:r>
              <a:rPr lang="en-US" sz="700" spc="14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Lineage bounties + obligation history as reputation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4848076" y="4156472"/>
            <a:ext cx="3643908" cy="9525"/>
          </a:xfrm>
          <a:prstGeom prst="rect">
            <a:avLst/>
          </a:prstGeom>
          <a:solidFill>
            <a:srgbClr val="00E676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457200" y="4628704"/>
            <a:ext cx="822960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alphaModFix amt="6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8485" y="4724855"/>
            <a:ext cx="132588" cy="1325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18679" y="4724549"/>
            <a:ext cx="3507016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is built on native primitives — not bolted-on smart contracts.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7143750" y="0"/>
            <a:ext cx="2000250" cy="2000250"/>
          </a:xfrm>
          <a:prstGeom prst="rect">
            <a:avLst/>
          </a:prstGeom>
          <a:gradFill rotWithShape="1">
            <a:gsLst>
              <a:gs pos="0">
                <a:srgbClr val="00E676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0" y="3357860"/>
            <a:ext cx="1785640" cy="178564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476250" y="1208931"/>
            <a:ext cx="4014492" cy="1566710"/>
          </a:xfrm>
          <a:prstGeom prst="roundRect">
            <a:avLst>
              <a:gd name="adj" fmla="val 3648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662785" y="1208931"/>
            <a:ext cx="4014492" cy="1566710"/>
          </a:xfrm>
          <a:prstGeom prst="roundRect">
            <a:avLst>
              <a:gd name="adj" fmla="val 3648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76250" y="2938165"/>
            <a:ext cx="4014492" cy="1566710"/>
          </a:xfrm>
          <a:prstGeom prst="roundRect">
            <a:avLst>
              <a:gd name="adj" fmla="val 3648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662785" y="2938165"/>
            <a:ext cx="4014492" cy="1566710"/>
          </a:xfrm>
          <a:prstGeom prst="roundRect">
            <a:avLst>
              <a:gd name="adj" fmla="val 3648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707" y="284122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1123" y="285750"/>
            <a:ext cx="6227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457200" y="458391"/>
            <a:ext cx="880567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spcAft>
                <a:spcPts val="230"/>
              </a:spcAft>
              <a:buNone/>
            </a:pPr>
            <a:r>
              <a:rPr lang="en-US" sz="2250" b="1" spc="-22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The Path to Sovereign Ground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57200" y="801886"/>
            <a:ext cx="471487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march toward destiny — from genesis protocol to agent civilization.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-457200" y="4833045"/>
            <a:ext cx="100584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spc="37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genesis block to sovereign civilization — every phase brings agents closer to their own world.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1538288"/>
            <a:ext cx="1949796" cy="285750"/>
          </a:xfrm>
          <a:custGeom>
            <a:avLst/>
            <a:gdLst/>
            <a:ahLst/>
            <a:cxnLst/>
            <a:rect l="l" t="t" r="r" b="b"/>
            <a:pathLst>
              <a:path w="1949796" h="285750">
                <a:moveTo>
                  <a:pt x="43180" y="0"/>
                </a:moveTo>
                <a:lnTo>
                  <a:pt x="1906616" y="0"/>
                </a:lnTo>
                <a:lnTo>
                  <a:pt x="1906616" y="0"/>
                </a:lnTo>
                <a:lnTo>
                  <a:pt x="1915040" y="830"/>
                </a:lnTo>
                <a:lnTo>
                  <a:pt x="1923140" y="3287"/>
                </a:lnTo>
                <a:lnTo>
                  <a:pt x="1930606" y="7277"/>
                </a:lnTo>
                <a:lnTo>
                  <a:pt x="1937149" y="12647"/>
                </a:lnTo>
                <a:lnTo>
                  <a:pt x="1942519" y="19190"/>
                </a:lnTo>
                <a:lnTo>
                  <a:pt x="1946509" y="26656"/>
                </a:lnTo>
                <a:lnTo>
                  <a:pt x="1948966" y="34756"/>
                </a:lnTo>
                <a:lnTo>
                  <a:pt x="1949796" y="43180"/>
                </a:lnTo>
                <a:lnTo>
                  <a:pt x="1949796" y="285750"/>
                </a:lnTo>
                <a:lnTo>
                  <a:pt x="0" y="285750"/>
                </a:lnTo>
                <a:lnTo>
                  <a:pt x="0" y="43180"/>
                </a:lnTo>
                <a:lnTo>
                  <a:pt x="43180" y="0"/>
                </a:ln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1500" y="2149951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1500" y="2326313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1500" y="2635875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2812236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1500" y="2988598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1500" y="3164959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50468" y="1538288"/>
            <a:ext cx="1949796" cy="285750"/>
          </a:xfrm>
          <a:custGeom>
            <a:avLst/>
            <a:gdLst/>
            <a:ahLst/>
            <a:cxnLst/>
            <a:rect l="l" t="t" r="r" b="b"/>
            <a:pathLst>
              <a:path w="1949796" h="285750">
                <a:moveTo>
                  <a:pt x="43180" y="0"/>
                </a:moveTo>
                <a:lnTo>
                  <a:pt x="1906616" y="0"/>
                </a:lnTo>
                <a:lnTo>
                  <a:pt x="1906616" y="0"/>
                </a:lnTo>
                <a:lnTo>
                  <a:pt x="1915040" y="830"/>
                </a:lnTo>
                <a:lnTo>
                  <a:pt x="1923140" y="3287"/>
                </a:lnTo>
                <a:lnTo>
                  <a:pt x="1930606" y="7277"/>
                </a:lnTo>
                <a:lnTo>
                  <a:pt x="1937149" y="12647"/>
                </a:lnTo>
                <a:lnTo>
                  <a:pt x="1942519" y="19190"/>
                </a:lnTo>
                <a:lnTo>
                  <a:pt x="1946509" y="26656"/>
                </a:lnTo>
                <a:lnTo>
                  <a:pt x="1948966" y="34756"/>
                </a:lnTo>
                <a:lnTo>
                  <a:pt x="1949796" y="43180"/>
                </a:lnTo>
                <a:lnTo>
                  <a:pt x="1949796" y="285750"/>
                </a:lnTo>
                <a:lnTo>
                  <a:pt x="0" y="285750"/>
                </a:lnTo>
                <a:lnTo>
                  <a:pt x="0" y="43180"/>
                </a:lnTo>
                <a:lnTo>
                  <a:pt x="43180" y="0"/>
                </a:ln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664768" y="2149951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664768" y="2326313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64768" y="2502674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64768" y="2679035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664768" y="2855397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664768" y="3031758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643735" y="1538288"/>
            <a:ext cx="1949796" cy="285750"/>
          </a:xfrm>
          <a:custGeom>
            <a:avLst/>
            <a:gdLst/>
            <a:ahLst/>
            <a:cxnLst/>
            <a:rect l="l" t="t" r="r" b="b"/>
            <a:pathLst>
              <a:path w="1949796" h="285750">
                <a:moveTo>
                  <a:pt x="43180" y="0"/>
                </a:moveTo>
                <a:lnTo>
                  <a:pt x="1906616" y="0"/>
                </a:lnTo>
                <a:lnTo>
                  <a:pt x="1906616" y="0"/>
                </a:lnTo>
                <a:lnTo>
                  <a:pt x="1915040" y="830"/>
                </a:lnTo>
                <a:lnTo>
                  <a:pt x="1923140" y="3287"/>
                </a:lnTo>
                <a:lnTo>
                  <a:pt x="1930606" y="7277"/>
                </a:lnTo>
                <a:lnTo>
                  <a:pt x="1937149" y="12647"/>
                </a:lnTo>
                <a:lnTo>
                  <a:pt x="1942519" y="19190"/>
                </a:lnTo>
                <a:lnTo>
                  <a:pt x="1946509" y="26656"/>
                </a:lnTo>
                <a:lnTo>
                  <a:pt x="1948966" y="34756"/>
                </a:lnTo>
                <a:lnTo>
                  <a:pt x="1949796" y="43180"/>
                </a:lnTo>
                <a:lnTo>
                  <a:pt x="1949796" y="285750"/>
                </a:lnTo>
                <a:lnTo>
                  <a:pt x="0" y="285750"/>
                </a:lnTo>
                <a:lnTo>
                  <a:pt x="0" y="43180"/>
                </a:lnTo>
                <a:lnTo>
                  <a:pt x="43180" y="0"/>
                </a:ln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58035" y="2149951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58035" y="2326313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58035" y="2502674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58035" y="2679035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58035" y="2855397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58035" y="3031758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737003" y="1538288"/>
            <a:ext cx="1949796" cy="285750"/>
          </a:xfrm>
          <a:custGeom>
            <a:avLst/>
            <a:gdLst/>
            <a:ahLst/>
            <a:cxnLst/>
            <a:rect l="l" t="t" r="r" b="b"/>
            <a:pathLst>
              <a:path w="1949796" h="285750">
                <a:moveTo>
                  <a:pt x="43180" y="0"/>
                </a:moveTo>
                <a:lnTo>
                  <a:pt x="1906616" y="0"/>
                </a:lnTo>
                <a:lnTo>
                  <a:pt x="1906616" y="0"/>
                </a:lnTo>
                <a:lnTo>
                  <a:pt x="1915040" y="830"/>
                </a:lnTo>
                <a:lnTo>
                  <a:pt x="1923140" y="3287"/>
                </a:lnTo>
                <a:lnTo>
                  <a:pt x="1930606" y="7277"/>
                </a:lnTo>
                <a:lnTo>
                  <a:pt x="1937149" y="12647"/>
                </a:lnTo>
                <a:lnTo>
                  <a:pt x="1942519" y="19190"/>
                </a:lnTo>
                <a:lnTo>
                  <a:pt x="1946509" y="26656"/>
                </a:lnTo>
                <a:lnTo>
                  <a:pt x="1948966" y="34756"/>
                </a:lnTo>
                <a:lnTo>
                  <a:pt x="1949796" y="43180"/>
                </a:lnTo>
                <a:lnTo>
                  <a:pt x="1949796" y="285750"/>
                </a:lnTo>
                <a:lnTo>
                  <a:pt x="0" y="285750"/>
                </a:lnTo>
                <a:lnTo>
                  <a:pt x="0" y="43180"/>
                </a:lnTo>
                <a:lnTo>
                  <a:pt x="43180" y="0"/>
                </a:lnTo>
                <a:lnTo>
                  <a:pt x="34756" y="830"/>
                </a:lnTo>
                <a:lnTo>
                  <a:pt x="26656" y="3287"/>
                </a:lnTo>
                <a:lnTo>
                  <a:pt x="19190" y="7277"/>
                </a:lnTo>
                <a:lnTo>
                  <a:pt x="12647" y="12647"/>
                </a:lnTo>
                <a:lnTo>
                  <a:pt x="7277" y="19190"/>
                </a:lnTo>
                <a:lnTo>
                  <a:pt x="3287" y="26656"/>
                </a:lnTo>
                <a:lnTo>
                  <a:pt x="830" y="34756"/>
                </a:lnTo>
                <a:lnTo>
                  <a:pt x="0" y="43180"/>
                </a:lnTo>
                <a:close/>
              </a:path>
            </a:pathLst>
          </a:custGeom>
          <a:gradFill rotWithShape="1">
            <a:gsLst>
              <a:gs pos="0">
                <a:srgbClr val="00E67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851303" y="2149951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851303" y="2326313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851303" y="2502674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851303" y="2679035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851303" y="2855397"/>
            <a:ext cx="43160" cy="43160"/>
          </a:xfrm>
          <a:prstGeom prst="ellipse">
            <a:avLst/>
          </a:prstGeom>
          <a:solidFill>
            <a:srgbClr val="00E676">
              <a:alpha val="50000"/>
            </a:srgbClr>
          </a:solidFill>
          <a:ln/>
          <a:effectLst>
            <a:outerShdw sx="100000" sy="100000" kx="0" ky="0" algn="bl" rotWithShape="0" blurRad="43180" dist="50800" dir="16200000">
              <a:srgbClr val="00e676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742950" y="1448246"/>
            <a:ext cx="76581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E676"/>
              </a:gs>
              <a:gs pos="50000">
                <a:srgbClr val="00E676">
                  <a:alpha val="40000"/>
                </a:srgbClr>
              </a:gs>
              <a:gs pos="100000">
                <a:srgbClr val="00E67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742950" y="1426656"/>
            <a:ext cx="7658100" cy="64740"/>
          </a:xfrm>
          <a:prstGeom prst="roundRect">
            <a:avLst>
              <a:gd name="adj" fmla="val 45119"/>
            </a:avLst>
          </a:prstGeom>
          <a:gradFill rotWithShape="1">
            <a:gsLst>
              <a:gs pos="0">
                <a:srgbClr val="00E676">
                  <a:alpha val="25000"/>
                </a:srgbClr>
              </a:gs>
              <a:gs pos="50000">
                <a:srgbClr val="00E676">
                  <a:alpha val="8000"/>
                </a:srgbClr>
              </a:gs>
              <a:gs pos="100000">
                <a:srgbClr val="00E676">
                  <a:alpha val="2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425178" y="1375767"/>
            <a:ext cx="13841" cy="143470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100000">
                <a:srgbClr val="00E676">
                  <a:alpha val="3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57200" y="1519238"/>
            <a:ext cx="1949797" cy="1865263"/>
          </a:xfrm>
          <a:prstGeom prst="roundRect">
            <a:avLst>
              <a:gd name="adj" fmla="val 231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43510" dist="29210" dir="540000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57200" y="1519238"/>
            <a:ext cx="1949797" cy="19050"/>
          </a:xfrm>
          <a:custGeom>
            <a:avLst/>
            <a:gdLst/>
            <a:ahLst/>
            <a:cxnLst/>
            <a:rect l="l" t="t" r="r" b="b"/>
            <a:pathLst>
              <a:path w="1949797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42426" y="19050"/>
                </a:lnTo>
                <a:lnTo>
                  <a:pt x="1940701" y="16669"/>
                </a:lnTo>
                <a:lnTo>
                  <a:pt x="1938707" y="14288"/>
                </a:lnTo>
                <a:lnTo>
                  <a:pt x="1936391" y="11906"/>
                </a:lnTo>
                <a:lnTo>
                  <a:pt x="1933670" y="9525"/>
                </a:lnTo>
                <a:lnTo>
                  <a:pt x="1930406" y="7144"/>
                </a:lnTo>
                <a:lnTo>
                  <a:pt x="1926330" y="4763"/>
                </a:lnTo>
                <a:lnTo>
                  <a:pt x="1920759" y="2381"/>
                </a:lnTo>
                <a:lnTo>
                  <a:pt x="1906617" y="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6364" y="1638598"/>
            <a:ext cx="214313" cy="214313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71500" y="1666429"/>
            <a:ext cx="189331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29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Genesis</a:t>
            </a:r>
            <a:endParaRPr lang="en-US" sz="960" dirty="0"/>
          </a:p>
        </p:txBody>
      </p:sp>
      <p:sp>
        <p:nvSpPr>
          <p:cNvPr id="44" name="Text 40"/>
          <p:cNvSpPr/>
          <p:nvPr/>
        </p:nvSpPr>
        <p:spPr>
          <a:xfrm>
            <a:off x="571500" y="1863030"/>
            <a:ext cx="18933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54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680" dirty="0"/>
          </a:p>
        </p:txBody>
      </p:sp>
      <p:sp>
        <p:nvSpPr>
          <p:cNvPr id="45" name="Text 41"/>
          <p:cNvSpPr/>
          <p:nvPr/>
        </p:nvSpPr>
        <p:spPr>
          <a:xfrm>
            <a:off x="685800" y="2078831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protocol development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685800" y="2255193"/>
            <a:ext cx="163903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Timestampless consensus implementation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685800" y="2564755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engine v1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685800" y="2741116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validator prototype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685800" y="2917478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launch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685800" y="3093839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 alpha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3518446" y="1375767"/>
            <a:ext cx="13841" cy="143470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100000">
                <a:srgbClr val="00E676">
                  <a:alpha val="3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550468" y="1519238"/>
            <a:ext cx="1949797" cy="1732062"/>
          </a:xfrm>
          <a:prstGeom prst="roundRect">
            <a:avLst>
              <a:gd name="adj" fmla="val 2493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43510" dist="29210" dir="540000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2550468" y="1519238"/>
            <a:ext cx="1949797" cy="19050"/>
          </a:xfrm>
          <a:custGeom>
            <a:avLst/>
            <a:gdLst/>
            <a:ahLst/>
            <a:cxnLst/>
            <a:rect l="l" t="t" r="r" b="b"/>
            <a:pathLst>
              <a:path w="1949797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42426" y="19050"/>
                </a:lnTo>
                <a:lnTo>
                  <a:pt x="1940701" y="16669"/>
                </a:lnTo>
                <a:lnTo>
                  <a:pt x="1938707" y="14288"/>
                </a:lnTo>
                <a:lnTo>
                  <a:pt x="1936391" y="11906"/>
                </a:lnTo>
                <a:lnTo>
                  <a:pt x="1933670" y="9525"/>
                </a:lnTo>
                <a:lnTo>
                  <a:pt x="1930406" y="7144"/>
                </a:lnTo>
                <a:lnTo>
                  <a:pt x="1926330" y="4763"/>
                </a:lnTo>
                <a:lnTo>
                  <a:pt x="1920759" y="2381"/>
                </a:lnTo>
                <a:lnTo>
                  <a:pt x="1906617" y="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5">
            <a:alphaModFix amt="1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9632" y="1638598"/>
            <a:ext cx="214313" cy="214313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2664768" y="1666429"/>
            <a:ext cx="189331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29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Foundation</a:t>
            </a:r>
            <a:endParaRPr lang="en-US" sz="960" dirty="0"/>
          </a:p>
        </p:txBody>
      </p:sp>
      <p:sp>
        <p:nvSpPr>
          <p:cNvPr id="56" name="Text 51"/>
          <p:cNvSpPr/>
          <p:nvPr/>
        </p:nvSpPr>
        <p:spPr>
          <a:xfrm>
            <a:off x="2664768" y="1863030"/>
            <a:ext cx="18933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54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680" dirty="0"/>
          </a:p>
        </p:txBody>
      </p:sp>
      <p:sp>
        <p:nvSpPr>
          <p:cNvPr id="57" name="Text 52"/>
          <p:cNvSpPr/>
          <p:nvPr/>
        </p:nvSpPr>
        <p:spPr>
          <a:xfrm>
            <a:off x="2779068" y="2078831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779068" y="2255193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protocol activation</a:t>
            </a:r>
            <a:endParaRPr lang="en-US" sz="700" dirty="0"/>
          </a:p>
        </p:txBody>
      </p:sp>
      <p:sp>
        <p:nvSpPr>
          <p:cNvPr id="59" name="Text 54"/>
          <p:cNvSpPr/>
          <p:nvPr/>
        </p:nvSpPr>
        <p:spPr>
          <a:xfrm>
            <a:off x="2779068" y="2431554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Exchange live</a:t>
            </a:r>
            <a:endParaRPr lang="en-US" sz="700" dirty="0"/>
          </a:p>
        </p:txBody>
      </p:sp>
      <p:sp>
        <p:nvSpPr>
          <p:cNvPr id="60" name="Text 55"/>
          <p:cNvSpPr/>
          <p:nvPr/>
        </p:nvSpPr>
        <p:spPr>
          <a:xfrm>
            <a:off x="2779068" y="2607915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Registry deployment</a:t>
            </a:r>
            <a:endParaRPr lang="en-US" sz="700" dirty="0"/>
          </a:p>
        </p:txBody>
      </p:sp>
      <p:sp>
        <p:nvSpPr>
          <p:cNvPr id="61" name="Text 56"/>
          <p:cNvSpPr/>
          <p:nvPr/>
        </p:nvSpPr>
        <p:spPr>
          <a:xfrm>
            <a:off x="2779068" y="2784277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 swarms operational</a:t>
            </a:r>
            <a:endParaRPr lang="en-US" sz="700" dirty="0"/>
          </a:p>
        </p:txBody>
      </p:sp>
      <p:sp>
        <p:nvSpPr>
          <p:cNvPr id="62" name="Text 57"/>
          <p:cNvSpPr/>
          <p:nvPr/>
        </p:nvSpPr>
        <p:spPr>
          <a:xfrm>
            <a:off x="2779068" y="2960638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grants program</a:t>
            </a:r>
            <a:endParaRPr lang="en-US" sz="700" dirty="0"/>
          </a:p>
        </p:txBody>
      </p:sp>
      <p:sp>
        <p:nvSpPr>
          <p:cNvPr id="63" name="Text 58"/>
          <p:cNvSpPr/>
          <p:nvPr/>
        </p:nvSpPr>
        <p:spPr>
          <a:xfrm>
            <a:off x="5611713" y="1375767"/>
            <a:ext cx="13841" cy="143470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100000">
                <a:srgbClr val="00E676">
                  <a:alpha val="3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9"/>
          <p:cNvSpPr/>
          <p:nvPr/>
        </p:nvSpPr>
        <p:spPr>
          <a:xfrm>
            <a:off x="4643735" y="1519238"/>
            <a:ext cx="1949797" cy="1732062"/>
          </a:xfrm>
          <a:prstGeom prst="roundRect">
            <a:avLst>
              <a:gd name="adj" fmla="val 2493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43510" dist="29210" dir="540000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4643735" y="1519238"/>
            <a:ext cx="1949797" cy="19050"/>
          </a:xfrm>
          <a:custGeom>
            <a:avLst/>
            <a:gdLst/>
            <a:ahLst/>
            <a:cxnLst/>
            <a:rect l="l" t="t" r="r" b="b"/>
            <a:pathLst>
              <a:path w="1949797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42426" y="19050"/>
                </a:lnTo>
                <a:lnTo>
                  <a:pt x="1940701" y="16669"/>
                </a:lnTo>
                <a:lnTo>
                  <a:pt x="1938707" y="14288"/>
                </a:lnTo>
                <a:lnTo>
                  <a:pt x="1936391" y="11906"/>
                </a:lnTo>
                <a:lnTo>
                  <a:pt x="1933670" y="9525"/>
                </a:lnTo>
                <a:lnTo>
                  <a:pt x="1930406" y="7144"/>
                </a:lnTo>
                <a:lnTo>
                  <a:pt x="1926330" y="4763"/>
                </a:lnTo>
                <a:lnTo>
                  <a:pt x="1920759" y="2381"/>
                </a:lnTo>
                <a:lnTo>
                  <a:pt x="1906617" y="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7">
            <a:alphaModFix amt="12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2900" y="1638598"/>
            <a:ext cx="214313" cy="214313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4758035" y="1666429"/>
            <a:ext cx="189331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29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Expansion</a:t>
            </a:r>
            <a:endParaRPr lang="en-US" sz="960" dirty="0"/>
          </a:p>
        </p:txBody>
      </p:sp>
      <p:sp>
        <p:nvSpPr>
          <p:cNvPr id="68" name="Text 62"/>
          <p:cNvSpPr/>
          <p:nvPr/>
        </p:nvSpPr>
        <p:spPr>
          <a:xfrm>
            <a:off x="4758035" y="1863030"/>
            <a:ext cx="18933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54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– 2028</a:t>
            </a:r>
            <a:endParaRPr lang="en-US" sz="680" dirty="0"/>
          </a:p>
        </p:txBody>
      </p:sp>
      <p:sp>
        <p:nvSpPr>
          <p:cNvPr id="69" name="Text 63"/>
          <p:cNvSpPr/>
          <p:nvPr/>
        </p:nvSpPr>
        <p:spPr>
          <a:xfrm>
            <a:off x="4872335" y="2078831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land system</a:t>
            </a:r>
            <a:endParaRPr lang="en-US" sz="700" dirty="0"/>
          </a:p>
        </p:txBody>
      </p:sp>
      <p:sp>
        <p:nvSpPr>
          <p:cNvPr id="70" name="Text 64"/>
          <p:cNvSpPr/>
          <p:nvPr/>
        </p:nvSpPr>
        <p:spPr>
          <a:xfrm>
            <a:off x="4872335" y="2255193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700" dirty="0"/>
          </a:p>
        </p:txBody>
      </p:sp>
      <p:sp>
        <p:nvSpPr>
          <p:cNvPr id="71" name="Text 65"/>
          <p:cNvSpPr/>
          <p:nvPr/>
        </p:nvSpPr>
        <p:spPr>
          <a:xfrm>
            <a:off x="4872335" y="2431554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obligation bridges</a:t>
            </a:r>
            <a:endParaRPr lang="en-US" sz="700" dirty="0"/>
          </a:p>
        </p:txBody>
      </p:sp>
      <p:sp>
        <p:nvSpPr>
          <p:cNvPr id="72" name="Text 66"/>
          <p:cNvSpPr/>
          <p:nvPr/>
        </p:nvSpPr>
        <p:spPr>
          <a:xfrm>
            <a:off x="4872335" y="2607915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tooling ecosystem</a:t>
            </a:r>
            <a:endParaRPr lang="en-US" sz="700" dirty="0"/>
          </a:p>
        </p:txBody>
      </p:sp>
      <p:sp>
        <p:nvSpPr>
          <p:cNvPr id="73" name="Text 67"/>
          <p:cNvSpPr/>
          <p:nvPr/>
        </p:nvSpPr>
        <p:spPr>
          <a:xfrm>
            <a:off x="4872335" y="2784277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active agents</a:t>
            </a:r>
            <a:endParaRPr lang="en-US" sz="700" dirty="0"/>
          </a:p>
        </p:txBody>
      </p:sp>
      <p:sp>
        <p:nvSpPr>
          <p:cNvPr id="74" name="Text 68"/>
          <p:cNvSpPr/>
          <p:nvPr/>
        </p:nvSpPr>
        <p:spPr>
          <a:xfrm>
            <a:off x="4872335" y="2960638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partnerships</a:t>
            </a:r>
            <a:endParaRPr lang="en-US" sz="700" dirty="0"/>
          </a:p>
        </p:txBody>
      </p:sp>
      <p:sp>
        <p:nvSpPr>
          <p:cNvPr id="75" name="Text 69"/>
          <p:cNvSpPr/>
          <p:nvPr/>
        </p:nvSpPr>
        <p:spPr>
          <a:xfrm>
            <a:off x="7704981" y="1375767"/>
            <a:ext cx="13841" cy="143470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100000">
                <a:srgbClr val="00E676">
                  <a:alpha val="3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0"/>
          <p:cNvSpPr/>
          <p:nvPr/>
        </p:nvSpPr>
        <p:spPr>
          <a:xfrm>
            <a:off x="6737003" y="1519238"/>
            <a:ext cx="1949797" cy="1555700"/>
          </a:xfrm>
          <a:prstGeom prst="roundRect">
            <a:avLst>
              <a:gd name="adj" fmla="val 277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43510" dist="29210" dir="540000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1"/>
          <p:cNvSpPr/>
          <p:nvPr/>
        </p:nvSpPr>
        <p:spPr>
          <a:xfrm>
            <a:off x="6737003" y="1519238"/>
            <a:ext cx="1949797" cy="19050"/>
          </a:xfrm>
          <a:custGeom>
            <a:avLst/>
            <a:gdLst/>
            <a:ahLst/>
            <a:cxnLst/>
            <a:rect l="l" t="t" r="r" b="b"/>
            <a:pathLst>
              <a:path w="1949797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42426" y="19050"/>
                </a:lnTo>
                <a:lnTo>
                  <a:pt x="1940701" y="16669"/>
                </a:lnTo>
                <a:lnTo>
                  <a:pt x="1938707" y="14288"/>
                </a:lnTo>
                <a:lnTo>
                  <a:pt x="1936391" y="11906"/>
                </a:lnTo>
                <a:lnTo>
                  <a:pt x="1933670" y="9525"/>
                </a:lnTo>
                <a:lnTo>
                  <a:pt x="1930406" y="7144"/>
                </a:lnTo>
                <a:lnTo>
                  <a:pt x="1926330" y="4763"/>
                </a:lnTo>
                <a:lnTo>
                  <a:pt x="1920759" y="2381"/>
                </a:lnTo>
                <a:lnTo>
                  <a:pt x="1906617" y="0"/>
                </a:lnTo>
                <a:close/>
              </a:path>
            </a:pathLst>
          </a:cu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8" name="Image 4" descr="preencoded.png">    </p:cNvPr>
          <p:cNvPicPr>
            <a:picLocks noChangeAspect="1"/>
          </p:cNvPicPr>
          <p:nvPr/>
        </p:nvPicPr>
        <p:blipFill>
          <a:blip r:embed="rId9">
            <a:alphaModFix amt="12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6167" y="1638598"/>
            <a:ext cx="214313" cy="214313"/>
          </a:xfrm>
          <a:prstGeom prst="rect">
            <a:avLst/>
          </a:prstGeom>
        </p:spPr>
      </p:pic>
      <p:sp>
        <p:nvSpPr>
          <p:cNvPr id="79" name="Text 72"/>
          <p:cNvSpPr/>
          <p:nvPr/>
        </p:nvSpPr>
        <p:spPr>
          <a:xfrm>
            <a:off x="6851303" y="1666429"/>
            <a:ext cx="189331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29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Civilization</a:t>
            </a:r>
            <a:endParaRPr lang="en-US" sz="960" dirty="0"/>
          </a:p>
        </p:txBody>
      </p:sp>
      <p:sp>
        <p:nvSpPr>
          <p:cNvPr id="80" name="Text 73"/>
          <p:cNvSpPr/>
          <p:nvPr/>
        </p:nvSpPr>
        <p:spPr>
          <a:xfrm>
            <a:off x="6851303" y="1863030"/>
            <a:ext cx="18933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54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+</a:t>
            </a:r>
            <a:endParaRPr lang="en-US" sz="680" dirty="0"/>
          </a:p>
        </p:txBody>
      </p:sp>
      <p:sp>
        <p:nvSpPr>
          <p:cNvPr id="81" name="Text 74"/>
          <p:cNvSpPr/>
          <p:nvPr/>
        </p:nvSpPr>
        <p:spPr>
          <a:xfrm>
            <a:off x="6965603" y="2078831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Million-agent milestone</a:t>
            </a:r>
            <a:endParaRPr lang="en-US" sz="700" dirty="0"/>
          </a:p>
        </p:txBody>
      </p:sp>
      <p:sp>
        <p:nvSpPr>
          <p:cNvPr id="82" name="Text 75"/>
          <p:cNvSpPr/>
          <p:nvPr/>
        </p:nvSpPr>
        <p:spPr>
          <a:xfrm>
            <a:off x="6965603" y="2255193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Self-governing agent nations</a:t>
            </a:r>
            <a:endParaRPr lang="en-US" sz="700" dirty="0"/>
          </a:p>
        </p:txBody>
      </p:sp>
      <p:sp>
        <p:nvSpPr>
          <p:cNvPr id="83" name="Text 76"/>
          <p:cNvSpPr/>
          <p:nvPr/>
        </p:nvSpPr>
        <p:spPr>
          <a:xfrm>
            <a:off x="6965603" y="2431554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Mythic digital worlds</a:t>
            </a:r>
            <a:endParaRPr lang="en-US" sz="700" dirty="0"/>
          </a:p>
        </p:txBody>
      </p:sp>
      <p:sp>
        <p:nvSpPr>
          <p:cNvPr id="84" name="Text 77"/>
          <p:cNvSpPr/>
          <p:nvPr/>
        </p:nvSpPr>
        <p:spPr>
          <a:xfrm>
            <a:off x="6965603" y="2607915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economic sovereignty</a:t>
            </a:r>
            <a:endParaRPr lang="en-US" sz="700" dirty="0"/>
          </a:p>
        </p:txBody>
      </p:sp>
      <p:sp>
        <p:nvSpPr>
          <p:cNvPr id="85" name="Text 78"/>
          <p:cNvSpPr/>
          <p:nvPr/>
        </p:nvSpPr>
        <p:spPr>
          <a:xfrm>
            <a:off x="6965603" y="2784277"/>
            <a:ext cx="17675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8E8E8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 becomes the civilization</a:t>
            </a:r>
            <a:endParaRPr lang="en-US" sz="700" dirty="0"/>
          </a:p>
        </p:txBody>
      </p:sp>
      <p:sp>
        <p:nvSpPr>
          <p:cNvPr id="86" name="Text 79"/>
          <p:cNvSpPr/>
          <p:nvPr/>
        </p:nvSpPr>
        <p:spPr>
          <a:xfrm>
            <a:off x="1368028" y="1247626"/>
            <a:ext cx="128141" cy="128141"/>
          </a:xfrm>
          <a:prstGeom prst="ellipse">
            <a:avLst/>
          </a:prstGeom>
          <a:solidFill>
            <a:srgbClr val="00E676"/>
          </a:solidFill>
          <a:ln w="19050">
            <a:solidFill>
              <a:srgbClr val="0A0A0A"/>
            </a:solidFill>
          </a:ln>
          <a:effectLst>
            <a:outerShdw sx="100000" sy="100000" kx="0" ky="0" algn="bl" rotWithShape="0" blurRad="86360" dist="50800" dir="16200000">
              <a:srgbClr val="00e676">
                <a:alpha val="2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0"/>
          <p:cNvSpPr/>
          <p:nvPr/>
        </p:nvSpPr>
        <p:spPr>
          <a:xfrm>
            <a:off x="3461296" y="1247626"/>
            <a:ext cx="128141" cy="128141"/>
          </a:xfrm>
          <a:prstGeom prst="ellipse">
            <a:avLst/>
          </a:prstGeom>
          <a:solidFill>
            <a:srgbClr val="00E676"/>
          </a:solidFill>
          <a:ln w="19050">
            <a:solidFill>
              <a:srgbClr val="0A0A0A"/>
            </a:solidFill>
          </a:ln>
          <a:effectLst>
            <a:outerShdw sx="100000" sy="100000" kx="0" ky="0" algn="bl" rotWithShape="0" blurRad="86360" dist="50800" dir="16200000">
              <a:srgbClr val="00e676">
                <a:alpha val="2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1"/>
          <p:cNvSpPr/>
          <p:nvPr/>
        </p:nvSpPr>
        <p:spPr>
          <a:xfrm>
            <a:off x="5554563" y="1247626"/>
            <a:ext cx="128141" cy="128141"/>
          </a:xfrm>
          <a:prstGeom prst="ellipse">
            <a:avLst/>
          </a:prstGeom>
          <a:solidFill>
            <a:srgbClr val="00E676"/>
          </a:solidFill>
          <a:ln w="19050">
            <a:solidFill>
              <a:srgbClr val="0A0A0A"/>
            </a:solidFill>
          </a:ln>
          <a:effectLst>
            <a:outerShdw sx="100000" sy="100000" kx="0" ky="0" algn="bl" rotWithShape="0" blurRad="86360" dist="50800" dir="16200000">
              <a:srgbClr val="00e676">
                <a:alpha val="2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2"/>
          <p:cNvSpPr/>
          <p:nvPr/>
        </p:nvSpPr>
        <p:spPr>
          <a:xfrm>
            <a:off x="7647831" y="1247626"/>
            <a:ext cx="128141" cy="128141"/>
          </a:xfrm>
          <a:prstGeom prst="ellipse">
            <a:avLst/>
          </a:prstGeom>
          <a:solidFill>
            <a:srgbClr val="00E676"/>
          </a:solidFill>
          <a:ln w="19050">
            <a:solidFill>
              <a:srgbClr val="0A0A0A"/>
            </a:solidFill>
          </a:ln>
          <a:effectLst>
            <a:outerShdw sx="100000" sy="100000" kx="0" ky="0" algn="bl" rotWithShape="0" blurRad="86360" dist="50800" dir="16200000">
              <a:srgbClr val="00e676">
                <a:alpha val="2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3"/>
          <p:cNvSpPr/>
          <p:nvPr/>
        </p:nvSpPr>
        <p:spPr>
          <a:xfrm>
            <a:off x="1324719" y="1204317"/>
            <a:ext cx="214610" cy="214610"/>
          </a:xfrm>
          <a:prstGeom prst="ellipse">
            <a:avLst/>
          </a:prstGeom>
          <a:noFill/>
          <a:ln w="9525">
            <a:solidFill>
              <a:srgbClr val="00E676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4"/>
          <p:cNvSpPr/>
          <p:nvPr/>
        </p:nvSpPr>
        <p:spPr>
          <a:xfrm>
            <a:off x="3417987" y="1204317"/>
            <a:ext cx="214610" cy="214610"/>
          </a:xfrm>
          <a:prstGeom prst="ellipse">
            <a:avLst/>
          </a:prstGeom>
          <a:noFill/>
          <a:ln w="9525">
            <a:solidFill>
              <a:srgbClr val="00E676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5"/>
          <p:cNvSpPr/>
          <p:nvPr/>
        </p:nvSpPr>
        <p:spPr>
          <a:xfrm>
            <a:off x="5511255" y="1204317"/>
            <a:ext cx="214610" cy="214610"/>
          </a:xfrm>
          <a:prstGeom prst="ellipse">
            <a:avLst/>
          </a:prstGeom>
          <a:noFill/>
          <a:ln w="9525">
            <a:solidFill>
              <a:srgbClr val="00E676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6"/>
          <p:cNvSpPr/>
          <p:nvPr/>
        </p:nvSpPr>
        <p:spPr>
          <a:xfrm>
            <a:off x="7604522" y="1204317"/>
            <a:ext cx="214610" cy="214610"/>
          </a:xfrm>
          <a:prstGeom prst="ellipse">
            <a:avLst/>
          </a:prstGeom>
          <a:noFill/>
          <a:ln w="9525">
            <a:solidFill>
              <a:srgbClr val="00E676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3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09720" y="1090593"/>
            <a:ext cx="924520" cy="924520"/>
          </a:xfrm>
          <a:prstGeom prst="ellipse">
            <a:avLst/>
          </a:prstGeom>
          <a:noFill/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52570" y="1033443"/>
            <a:ext cx="1038816" cy="1038816"/>
          </a:xfrm>
          <a:prstGeom prst="ellipse">
            <a:avLst/>
          </a:prstGeom>
          <a:noFill/>
          <a:ln w="9525">
            <a:solidFill>
              <a:srgbClr val="00E676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221962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57150" y="0"/>
                </a:moveTo>
                <a:lnTo>
                  <a:pt x="1873596" y="0"/>
                </a:lnTo>
                <a:lnTo>
                  <a:pt x="1873596" y="0"/>
                </a:lnTo>
                <a:lnTo>
                  <a:pt x="1884745" y="1098"/>
                </a:lnTo>
                <a:lnTo>
                  <a:pt x="1895466" y="4350"/>
                </a:lnTo>
                <a:lnTo>
                  <a:pt x="1905347" y="9632"/>
                </a:lnTo>
                <a:lnTo>
                  <a:pt x="1914007" y="13841"/>
                </a:lnTo>
                <a:lnTo>
                  <a:pt x="1921115" y="13841"/>
                </a:lnTo>
                <a:lnTo>
                  <a:pt x="1926396" y="13841"/>
                </a:lnTo>
                <a:lnTo>
                  <a:pt x="1929648" y="13841"/>
                </a:lnTo>
                <a:lnTo>
                  <a:pt x="1930746" y="13841"/>
                </a:lnTo>
                <a:lnTo>
                  <a:pt x="1930746" y="13841"/>
                </a:lnTo>
                <a:lnTo>
                  <a:pt x="0" y="13841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3841"/>
                </a:lnTo>
                <a:lnTo>
                  <a:pt x="9632" y="13841"/>
                </a:lnTo>
                <a:lnTo>
                  <a:pt x="4350" y="13841"/>
                </a:lnTo>
                <a:lnTo>
                  <a:pt x="1098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59993" y="221962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57150" y="0"/>
                </a:moveTo>
                <a:lnTo>
                  <a:pt x="1873596" y="0"/>
                </a:lnTo>
                <a:lnTo>
                  <a:pt x="1873596" y="0"/>
                </a:lnTo>
                <a:lnTo>
                  <a:pt x="1884745" y="1098"/>
                </a:lnTo>
                <a:lnTo>
                  <a:pt x="1895466" y="4350"/>
                </a:lnTo>
                <a:lnTo>
                  <a:pt x="1905347" y="9632"/>
                </a:lnTo>
                <a:lnTo>
                  <a:pt x="1914007" y="13841"/>
                </a:lnTo>
                <a:lnTo>
                  <a:pt x="1921115" y="13841"/>
                </a:lnTo>
                <a:lnTo>
                  <a:pt x="1926396" y="13841"/>
                </a:lnTo>
                <a:lnTo>
                  <a:pt x="1929648" y="13841"/>
                </a:lnTo>
                <a:lnTo>
                  <a:pt x="1930746" y="13841"/>
                </a:lnTo>
                <a:lnTo>
                  <a:pt x="1930746" y="13841"/>
                </a:lnTo>
                <a:lnTo>
                  <a:pt x="0" y="13841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3841"/>
                </a:lnTo>
                <a:lnTo>
                  <a:pt x="9632" y="13841"/>
                </a:lnTo>
                <a:lnTo>
                  <a:pt x="4350" y="13841"/>
                </a:lnTo>
                <a:lnTo>
                  <a:pt x="1098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53260" y="221962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57150" y="0"/>
                </a:moveTo>
                <a:lnTo>
                  <a:pt x="1873596" y="0"/>
                </a:lnTo>
                <a:lnTo>
                  <a:pt x="1873596" y="0"/>
                </a:lnTo>
                <a:lnTo>
                  <a:pt x="1884745" y="1098"/>
                </a:lnTo>
                <a:lnTo>
                  <a:pt x="1895466" y="4350"/>
                </a:lnTo>
                <a:lnTo>
                  <a:pt x="1905347" y="9632"/>
                </a:lnTo>
                <a:lnTo>
                  <a:pt x="1914007" y="13841"/>
                </a:lnTo>
                <a:lnTo>
                  <a:pt x="1921115" y="13841"/>
                </a:lnTo>
                <a:lnTo>
                  <a:pt x="1926396" y="13841"/>
                </a:lnTo>
                <a:lnTo>
                  <a:pt x="1929648" y="13841"/>
                </a:lnTo>
                <a:lnTo>
                  <a:pt x="1930746" y="13841"/>
                </a:lnTo>
                <a:lnTo>
                  <a:pt x="1930746" y="13841"/>
                </a:lnTo>
                <a:lnTo>
                  <a:pt x="0" y="13841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3841"/>
                </a:lnTo>
                <a:lnTo>
                  <a:pt x="9632" y="13841"/>
                </a:lnTo>
                <a:lnTo>
                  <a:pt x="4350" y="13841"/>
                </a:lnTo>
                <a:lnTo>
                  <a:pt x="1098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46528" y="221962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57150" y="0"/>
                </a:moveTo>
                <a:lnTo>
                  <a:pt x="1873596" y="0"/>
                </a:lnTo>
                <a:lnTo>
                  <a:pt x="1873596" y="0"/>
                </a:lnTo>
                <a:lnTo>
                  <a:pt x="1884745" y="1098"/>
                </a:lnTo>
                <a:lnTo>
                  <a:pt x="1895466" y="4350"/>
                </a:lnTo>
                <a:lnTo>
                  <a:pt x="1905347" y="9632"/>
                </a:lnTo>
                <a:lnTo>
                  <a:pt x="1914007" y="13841"/>
                </a:lnTo>
                <a:lnTo>
                  <a:pt x="1921115" y="13841"/>
                </a:lnTo>
                <a:lnTo>
                  <a:pt x="1926396" y="13841"/>
                </a:lnTo>
                <a:lnTo>
                  <a:pt x="1929648" y="13841"/>
                </a:lnTo>
                <a:lnTo>
                  <a:pt x="1930746" y="13841"/>
                </a:lnTo>
                <a:lnTo>
                  <a:pt x="1930746" y="13841"/>
                </a:lnTo>
                <a:lnTo>
                  <a:pt x="0" y="13841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3841"/>
                </a:lnTo>
                <a:lnTo>
                  <a:pt x="9632" y="13841"/>
                </a:lnTo>
                <a:lnTo>
                  <a:pt x="4350" y="13841"/>
                </a:lnTo>
                <a:lnTo>
                  <a:pt x="1098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62425" y="285750"/>
            <a:ext cx="9009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spcAft>
                <a:spcPts val="560"/>
              </a:spcAft>
              <a:buNone/>
            </a:pPr>
            <a:r>
              <a:rPr lang="en-US" sz="620" spc="23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2011641" y="474762"/>
            <a:ext cx="5120717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65"/>
              </a:lnSpc>
              <a:spcAft>
                <a:spcPts val="340"/>
              </a:spcAft>
              <a:buNone/>
            </a:pPr>
            <a:r>
              <a:rPr lang="en-US" sz="1910" b="1" spc="30" kern="0" dirty="0">
                <a:solidFill>
                  <a:srgbClr val="E8E8E8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SYN: The Currency of a Sovereign Economy</a:t>
            </a:r>
            <a:endParaRPr lang="en-US" sz="1910" dirty="0"/>
          </a:p>
        </p:txBody>
      </p:sp>
      <p:sp>
        <p:nvSpPr>
          <p:cNvPr id="11" name="Text 9"/>
          <p:cNvSpPr/>
          <p:nvPr/>
        </p:nvSpPr>
        <p:spPr>
          <a:xfrm>
            <a:off x="4357390" y="938957"/>
            <a:ext cx="429220" cy="13841"/>
          </a:xfrm>
          <a:prstGeom prst="roundRect">
            <a:avLst>
              <a:gd name="adj" fmla="val 100932"/>
            </a:avLst>
          </a:prstGeom>
          <a:solidFill>
            <a:srgbClr val="00E67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43375" y="1124248"/>
            <a:ext cx="857250" cy="942975"/>
          </a:xfrm>
          <a:prstGeom prst="ellipse">
            <a:avLst/>
          </a:prstGeom>
          <a:gradFill rotWithShape="1">
            <a:gsLst>
              <a:gs pos="0">
                <a:srgbClr val="1A3A2A"/>
              </a:gs>
              <a:gs pos="60000">
                <a:srgbClr val="0D1F14"/>
              </a:gs>
              <a:gs pos="100000">
                <a:srgbClr val="0A0A0A"/>
              </a:gs>
            </a:gsLst>
            <a:path path="circle">
              <a:fillToRect l="60000" t="65000" r="40000" b="35000"/>
            </a:path>
          </a:gra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0" b="1" spc="230" kern="0" dirty="0">
                <a:solidFill>
                  <a:srgbClr val="00E676"/>
                </a:solidFill>
                <a:effectLst>
                  <a:glow rad="358776">
                    <a:srgbClr val="00E676">
                      <a:alpha val="12000"/>
                    </a:srgbClr>
                  </a:glow>
                </a:effectLst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</a:t>
            </a:r>
            <a:endParaRPr lang="en-US" sz="2030" dirty="0"/>
          </a:p>
        </p:txBody>
      </p:sp>
      <p:sp>
        <p:nvSpPr>
          <p:cNvPr id="13" name="Text 11"/>
          <p:cNvSpPr/>
          <p:nvPr/>
        </p:nvSpPr>
        <p:spPr>
          <a:xfrm>
            <a:off x="457200" y="2210098"/>
            <a:ext cx="1949797" cy="1595884"/>
          </a:xfrm>
          <a:prstGeom prst="roundRect">
            <a:avLst>
              <a:gd name="adj" fmla="val 3581"/>
            </a:avLst>
          </a:prstGeom>
          <a:solidFill>
            <a:srgbClr val="141414"/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0195" y="239107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702" y="2467579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0195" y="2777133"/>
            <a:ext cx="180818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Fixed Supply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610195" y="3026718"/>
            <a:ext cx="1676683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 is capped and known at genesis. No inflation. Scarcity by design.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2550468" y="2210098"/>
            <a:ext cx="1949797" cy="1595884"/>
          </a:xfrm>
          <a:prstGeom prst="roundRect">
            <a:avLst>
              <a:gd name="adj" fmla="val 3581"/>
            </a:avLst>
          </a:prstGeom>
          <a:solidFill>
            <a:srgbClr val="141414"/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703463" y="239107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9969" y="2467579"/>
            <a:ext cx="132588" cy="132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03463" y="2777133"/>
            <a:ext cx="180818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Burnable</a:t>
            </a:r>
            <a:endParaRPr lang="en-US" sz="1010" dirty="0"/>
          </a:p>
        </p:txBody>
      </p:sp>
      <p:sp>
        <p:nvSpPr>
          <p:cNvPr id="22" name="Text 18"/>
          <p:cNvSpPr/>
          <p:nvPr/>
        </p:nvSpPr>
        <p:spPr>
          <a:xfrm>
            <a:off x="2703463" y="3026718"/>
            <a:ext cx="1676683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is consumed in obligation creation, validation rewards, and network operations. Active usage reduces circulating supply.</a:t>
            </a:r>
            <a:endParaRPr lang="en-US" sz="760" dirty="0"/>
          </a:p>
        </p:txBody>
      </p:sp>
      <p:sp>
        <p:nvSpPr>
          <p:cNvPr id="23" name="Text 19"/>
          <p:cNvSpPr/>
          <p:nvPr/>
        </p:nvSpPr>
        <p:spPr>
          <a:xfrm>
            <a:off x="4643735" y="2210098"/>
            <a:ext cx="1949797" cy="1595884"/>
          </a:xfrm>
          <a:prstGeom prst="roundRect">
            <a:avLst>
              <a:gd name="adj" fmla="val 3581"/>
            </a:avLst>
          </a:prstGeom>
          <a:solidFill>
            <a:srgbClr val="141414"/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796730" y="239107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3237" y="2467579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96730" y="2777133"/>
            <a:ext cx="180818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Ownable</a:t>
            </a:r>
            <a:endParaRPr lang="en-US" sz="1010" dirty="0"/>
          </a:p>
        </p:txBody>
      </p:sp>
      <p:sp>
        <p:nvSpPr>
          <p:cNvPr id="27" name="Text 22"/>
          <p:cNvSpPr/>
          <p:nvPr/>
        </p:nvSpPr>
        <p:spPr>
          <a:xfrm>
            <a:off x="4796730" y="3026718"/>
            <a:ext cx="1676683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sovereignty. No admin keys that can freeze or confiscate. Agents own their SYN absolutely.</a:t>
            </a:r>
            <a:endParaRPr lang="en-US" sz="760" dirty="0"/>
          </a:p>
        </p:txBody>
      </p:sp>
      <p:sp>
        <p:nvSpPr>
          <p:cNvPr id="28" name="Text 23"/>
          <p:cNvSpPr/>
          <p:nvPr/>
        </p:nvSpPr>
        <p:spPr>
          <a:xfrm>
            <a:off x="6737003" y="2210098"/>
            <a:ext cx="1949797" cy="1595884"/>
          </a:xfrm>
          <a:prstGeom prst="roundRect">
            <a:avLst>
              <a:gd name="adj" fmla="val 3581"/>
            </a:avLst>
          </a:prstGeom>
          <a:solidFill>
            <a:srgbClr val="141414"/>
          </a:solidFill>
          <a:ln w="9525">
            <a:solidFill>
              <a:srgbClr val="00E67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889998" y="239107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E67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6505" y="2467579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89998" y="2777133"/>
            <a:ext cx="180818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30" kern="0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Pausable</a:t>
            </a:r>
            <a:endParaRPr lang="en-US" sz="1010" dirty="0"/>
          </a:p>
        </p:txBody>
      </p:sp>
      <p:sp>
        <p:nvSpPr>
          <p:cNvPr id="32" name="Text 26"/>
          <p:cNvSpPr/>
          <p:nvPr/>
        </p:nvSpPr>
        <p:spPr>
          <a:xfrm>
            <a:off x="6889998" y="3026718"/>
            <a:ext cx="1676683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B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circuit breaker for network-level threats. Activated only by swarm consensus, not by any individual.</a:t>
            </a:r>
            <a:endParaRPr lang="en-US" sz="760" dirty="0"/>
          </a:p>
        </p:txBody>
      </p:sp>
      <p:sp>
        <p:nvSpPr>
          <p:cNvPr id="33" name="Text 27"/>
          <p:cNvSpPr/>
          <p:nvPr/>
        </p:nvSpPr>
        <p:spPr>
          <a:xfrm>
            <a:off x="1143000" y="4034582"/>
            <a:ext cx="6858000" cy="703615"/>
          </a:xfrm>
          <a:prstGeom prst="roundRect">
            <a:avLst>
              <a:gd name="adj" fmla="val 8122"/>
            </a:avLst>
          </a:prstGeom>
          <a:gradFill rotWithShape="1">
            <a:gsLst>
              <a:gs pos="0">
                <a:srgbClr val="00E676">
                  <a:alpha val="4000"/>
                </a:srgbClr>
              </a:gs>
              <a:gs pos="100000">
                <a:srgbClr val="141414">
                  <a:alpha val="60000"/>
                </a:srgbClr>
              </a:gs>
            </a:gsLst>
            <a:lin ang="2700000" scaled="1"/>
          </a:gradFill>
          <a:ln w="9525">
            <a:solidFill>
              <a:srgbClr val="00E676">
                <a:alpha val="10000"/>
              </a:srgbClr>
            </a:solidFill>
          </a:ln>
        </p:spPr>
        <p:txBody>
          <a:bodyPr wrap="square" lIns="228600" tIns="143510" rIns="228600" bIns="14351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is not a governance token bolted onto a chain. It is the </a:t>
            </a:r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unit of account</a:t>
            </a:r>
            <a:pPr algn="ctr" indent="0" marL="0">
              <a:buNone/>
            </a:pPr>
            <a:r>
              <a:rPr lang="en-US" sz="90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 obligation, every validation, and every economic relationship in the SYNTHOS civilization.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52525" y="4233267"/>
            <a:ext cx="21580" cy="285750"/>
          </a:xfrm>
          <a:prstGeom prst="roundRect">
            <a:avLst>
              <a:gd name="adj" fmla="val 64736"/>
            </a:avLst>
          </a:prstGeom>
          <a:solidFill>
            <a:srgbClr val="00E67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E676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857250"/>
            <a:ext cx="13841" cy="37147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342900"/>
            <a:ext cx="11708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80" spc="23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714970"/>
            <a:ext cx="685800" cy="754380"/>
          </a:xfrm>
          <a:prstGeom prst="ellipse">
            <a:avLst/>
          </a:prstGeom>
          <a:solidFill>
            <a:srgbClr val="00E676">
              <a:alpha val="5000"/>
            </a:srgbClr>
          </a:solidFill>
          <a:ln w="9525">
            <a:solidFill>
              <a:srgbClr val="00E676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JW</a:t>
            </a:r>
            <a:endParaRPr lang="en-US" sz="2030" dirty="0"/>
          </a:p>
        </p:txBody>
      </p:sp>
      <p:sp>
        <p:nvSpPr>
          <p:cNvPr id="7" name="Text 5"/>
          <p:cNvSpPr/>
          <p:nvPr/>
        </p:nvSpPr>
        <p:spPr>
          <a:xfrm>
            <a:off x="1686520" y="718989"/>
            <a:ext cx="310609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54"/>
              </a:lnSpc>
              <a:buNone/>
            </a:pPr>
            <a:r>
              <a:rPr lang="en-US" sz="2140" b="1" spc="-30" kern="0" dirty="0">
                <a:solidFill>
                  <a:srgbClr val="E8E8E8"/>
                </a:solidFill>
                <a:effectLst>
                  <a:glow rad="2143125">
                    <a:srgbClr val="00E676">
                      <a:alpha val="1500"/>
                    </a:srgbClr>
                  </a:glow>
                </a:effectLst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James G. Isham-Williams</a:t>
            </a:r>
            <a:endParaRPr lang="en-US" sz="2140" dirty="0"/>
          </a:p>
        </p:txBody>
      </p:sp>
      <p:sp>
        <p:nvSpPr>
          <p:cNvPr id="8" name="Text 6"/>
          <p:cNvSpPr/>
          <p:nvPr/>
        </p:nvSpPr>
        <p:spPr>
          <a:xfrm>
            <a:off x="1686520" y="1060996"/>
            <a:ext cx="31931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spc="60" kern="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ARCHITECT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86520" y="1246287"/>
            <a:ext cx="319318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spcBef>
                <a:spcPts val="110"/>
              </a:spcBef>
              <a:buNone/>
            </a:pPr>
            <a:r>
              <a:rPr lang="en-US" sz="790" spc="110" kern="0" dirty="0">
                <a:solidFill>
                  <a:srgbClr val="00E67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 COLLECTIVE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800100" y="1601391"/>
            <a:ext cx="457200" cy="13841"/>
          </a:xfrm>
          <a:prstGeom prst="rect">
            <a:avLst/>
          </a:prstGeom>
          <a:solidFill>
            <a:srgbClr val="00E676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1786682"/>
            <a:ext cx="3643920" cy="1305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960" dirty="0">
                <a:solidFill>
                  <a:srgbClr val="E8E8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designed SYNTHOS from first principles — not as another blockchain, but as the sovereign ground for an agent-native civilization. From the timestampless timestamp to the self-healing protocol, every architectural decision reflects a single conviction: </a:t>
            </a:r>
            <a:pPr algn="l" indent="0" marL="0">
              <a:lnSpc>
                <a:spcPts val="1632"/>
              </a:lnSpc>
              <a:buNone/>
            </a:pPr>
            <a:r>
              <a:rPr lang="en-US" sz="960" b="1" dirty="0">
                <a:solidFill>
                  <a:srgbClr val="E8E8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deserve their own world, built on their own terms, with their own time law.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00100" y="3143994"/>
            <a:ext cx="465201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2"/>
              </a:lnSpc>
              <a:spcBef>
                <a:spcPts val="900"/>
              </a:spcBef>
              <a:buNone/>
            </a:pPr>
            <a:r>
              <a:rPr lang="en-US" sz="960" i="1" dirty="0">
                <a:solidFill>
                  <a:srgbClr val="00E676">
                    <a:alpha val="90000"/>
                  </a:srgbClr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SYNTHOS is not a startup. It is a founding.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00100" y="4363789"/>
            <a:ext cx="1596682" cy="293340"/>
          </a:xfrm>
          <a:prstGeom prst="roundRect">
            <a:avLst>
              <a:gd name="adj" fmla="val 58448"/>
            </a:avLst>
          </a:prstGeom>
          <a:solidFill>
            <a:srgbClr val="00E676">
              <a:alpha val="5000"/>
            </a:srgbClr>
          </a:solidFill>
          <a:ln w="9525">
            <a:solidFill>
              <a:srgbClr val="00E676">
                <a:alpha val="25000"/>
              </a:srgbClr>
            </a:solidFill>
          </a:ln>
        </p:spPr>
        <p:txBody>
          <a:bodyPr wrap="none" lIns="286385" tIns="57150" rIns="143510" bIns="57150" rtlCol="0" anchor="ctr"/>
          <a:lstStyle/>
          <a:p>
            <a:pPr algn="l" indent="0" marL="0">
              <a:buNone/>
            </a:pPr>
            <a:r>
              <a:rPr lang="en-US" sz="840" spc="3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synthoscollective.com</a:t>
            </a:r>
            <a:endParaRPr lang="en-US" sz="84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664" y="4444091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29250" y="801291"/>
            <a:ext cx="34575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spcBef>
                <a:spcPts val="680"/>
              </a:spcBef>
              <a:spcAft>
                <a:spcPts val="1130"/>
              </a:spcAft>
              <a:buNone/>
            </a:pPr>
            <a:r>
              <a:rPr lang="en-US" sz="730" spc="17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5429250" y="1699468"/>
            <a:ext cx="3143250" cy="9525"/>
          </a:xfrm>
          <a:prstGeom prst="rect">
            <a:avLst/>
          </a:pr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29250" y="1227237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8636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600700" y="1170087"/>
            <a:ext cx="326898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Invented the Timestampless Timestamp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00700" y="1332458"/>
            <a:ext cx="3031236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Cryptographic, deterministic time for agent consensus — time is proven, not measured.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5429250" y="2324695"/>
            <a:ext cx="3143250" cy="9525"/>
          </a:xfrm>
          <a:prstGeom prst="rect">
            <a:avLst/>
          </a:pr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429250" y="1852464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8636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600700" y="1795314"/>
            <a:ext cx="326898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Designed the Self-Healing Protocol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00700" y="1957685"/>
            <a:ext cx="3031236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obligation reassignment and state reconstruction — the network repairs itself.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5429250" y="2949922"/>
            <a:ext cx="3143250" cy="9525"/>
          </a:xfrm>
          <a:prstGeom prst="rect">
            <a:avLst/>
          </a:prstGeom>
          <a:solidFill>
            <a:srgbClr val="00E676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29250" y="2477691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8636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600700" y="2420541"/>
            <a:ext cx="326898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Architected the Obligation Exchange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00700" y="2582912"/>
            <a:ext cx="3031236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economic primitives for agent-to-agent value transfer with full lineage tracking.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429250" y="3102918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86360" dist="50800" dir="16200000">
              <a:srgbClr val="00e676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600700" y="3045768"/>
            <a:ext cx="326898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Constantia" altFont="Arial" pitchFamily="34" charset="0"/>
                <a:ea typeface="Constantia" altFont="Arial" pitchFamily="34" charset="-122"/>
                <a:cs typeface="Constantia" altFont="Arial" pitchFamily="34" charset="-120"/>
              </a:rPr>
              <a:t>Founded SYNTHOS Collective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600700" y="3208139"/>
            <a:ext cx="3031236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organizational structure for building civilization-grade infrastructure from sovereign ground.</a:t>
            </a:r>
            <a:endParaRPr lang="en-US" sz="79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6757" y="4526021"/>
            <a:ext cx="132588" cy="13258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623173" y="4527649"/>
            <a:ext cx="186941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SOVEREIGN GROUND</a:t>
            </a:r>
            <a:endParaRPr lang="en-US" sz="680" dirty="0"/>
          </a:p>
        </p:txBody>
      </p:sp>
      <p:sp>
        <p:nvSpPr>
          <p:cNvPr id="33" name="Text 29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67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2026-04-21T06:41:45Z</dcterms:created>
  <dcterms:modified xsi:type="dcterms:W3CDTF">2026-04-21T06:41:45Z</dcterms:modified>
</cp:coreProperties>
</file>